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2A9011-D1AE-418A-B32D-69AE399426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EE0D85-7D3E-4CC5-AE79-6E14D2454B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443070E-C98F-48B7-A544-850B16F9C1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D022D1-35B0-44F1-961B-6D67E0D876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B1F5945-8A76-407B-B522-52A068E27B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F6FF6B2-0831-4258-8FAD-E9E0B7C44E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525EA90-63D8-422A-AE99-CFB78D1905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0BE453C-D946-496B-BD4D-D767513398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444456C-2FA4-4CE7-BAF2-F470362A1C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B4F3A29-BB3D-4F4D-9591-017477F252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5C6EEE1-5DE7-4D7D-A376-61B7A4072B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Master title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398795-AFE7-4B2C-9617-A23FF18F7F14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E3BD96-9650-4CBA-A5DD-940EE3DFDEF8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615E5D-A0EC-4841-8FE5-5611B39A4516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411B8E-1F09-44AE-8290-7F979CCFC4F7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5B25DD-21FC-440B-85E6-4560857D739D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C8E61D-BF68-4FFB-B265-0C7BAA2E2C5A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2873DB-1E07-4C10-BABC-6E4F29047FBA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E9279D-7BD9-45FB-A017-A5265CA07B68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5FA4AC-BFC1-4DA5-BDB2-F2420D0C32DE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783E51-5823-4C6C-9907-48419A9ADAA8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01C01F-110D-4621-8D8D-0A3E37D40091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22b8d6"/>
          </a:solidFill>
          <a:ln>
            <a:solidFill>
              <a:srgbClr val="22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658440" y="530280"/>
            <a:ext cx="6126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7ce0c3"/>
                </a:solidFill>
                <a:latin typeface="Aptos"/>
              </a:rPr>
              <a:t>AI4SEVA 2026  ·  SOCIAL WELFARE  ·  SW-01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658440" y="1060560"/>
            <a:ext cx="576036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r>
              <a:rPr b="1" lang="en-US" sz="3400" spc="-1" strike="noStrike">
                <a:solidFill>
                  <a:srgbClr val="ffffff"/>
                </a:solidFill>
                <a:latin typeface="Aptos"/>
              </a:rPr>
              <a:t>Find support.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Aptos"/>
              </a:rPr>
              <a:t>Know your next step.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685800" y="276156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7ce0c3"/>
                </a:solidFill>
                <a:latin typeface="Aptos"/>
              </a:rPr>
              <a:t>SevaManipur AI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685800" y="331020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700" spc="-1" strike="noStrike">
                <a:solidFill>
                  <a:srgbClr val="e0eaf8"/>
                </a:solidFill>
                <a:latin typeface="Aptos"/>
              </a:rPr>
              <a:t>SW-01 · Welfare Scheme Navigator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685800" y="3913560"/>
            <a:ext cx="51202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b8c9e3"/>
                </a:solidFill>
                <a:latin typeface="Aptos"/>
              </a:rPr>
              <a:t>Find possible matches, understand requirements and plan what to do next.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ounded Rectangle 7"/>
          <p:cNvSpPr/>
          <p:nvPr/>
        </p:nvSpPr>
        <p:spPr>
          <a:xfrm>
            <a:off x="685800" y="5257800"/>
            <a:ext cx="2633040" cy="694440"/>
          </a:xfrm>
          <a:prstGeom prst="roundRect">
            <a:avLst>
              <a:gd name="adj" fmla="val 12000"/>
            </a:avLst>
          </a:prstGeom>
          <a:solidFill>
            <a:srgbClr val="1a315d"/>
          </a:solidFill>
          <a:ln>
            <a:solidFill>
              <a:srgbClr val="496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877680" y="540396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d7e5f7"/>
                </a:solidFill>
                <a:latin typeface="Aptos"/>
              </a:rPr>
              <a:t>PITCH PRESENTATION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877680" y="563256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SW-01 · SOCIAL WELFARE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694800" y="618120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afc1dd"/>
                </a:solidFill>
                <a:latin typeface="Aptos"/>
              </a:rPr>
              <a:t>9 OCTOBER 2026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Rounded Rectangle 14"/>
          <p:cNvSpPr/>
          <p:nvPr/>
        </p:nvSpPr>
        <p:spPr>
          <a:xfrm>
            <a:off x="7095600" y="4251960"/>
            <a:ext cx="3840120" cy="658080"/>
          </a:xfrm>
          <a:prstGeom prst="roundRect">
            <a:avLst>
              <a:gd name="adj" fmla="val 12000"/>
            </a:avLst>
          </a:prstGeom>
          <a:solidFill>
            <a:srgbClr val="1a315d"/>
          </a:solidFill>
          <a:ln>
            <a:solidFill>
              <a:srgbClr val="385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15"/>
          <p:cNvSpPr/>
          <p:nvPr/>
        </p:nvSpPr>
        <p:spPr>
          <a:xfrm>
            <a:off x="7178040" y="4471560"/>
            <a:ext cx="3657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000" spc="-1" strike="noStrike">
                <a:solidFill>
                  <a:srgbClr val="7ce0c3"/>
                </a:solidFill>
                <a:latin typeface="Aptos"/>
              </a:rPr>
              <a:t>PROFILE  →  POSSIBLE MATCHES  →  NEXT STEPS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16"/>
          <p:cNvSpPr/>
          <p:nvPr/>
        </p:nvSpPr>
        <p:spPr>
          <a:xfrm>
            <a:off x="7059240" y="5175360"/>
            <a:ext cx="42516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bacae2"/>
                </a:solidFill>
                <a:latin typeface="Aptos"/>
              </a:rPr>
              <a:t>Prototype developed for the AI4SEVA Hackathon. Not an official Government of Manipur website.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17"/>
          <p:cNvSpPr/>
          <p:nvPr/>
        </p:nvSpPr>
        <p:spPr>
          <a:xfrm>
            <a:off x="567000" y="6546960"/>
            <a:ext cx="6400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b8c9e3"/>
                </a:solidFill>
                <a:latin typeface="Aptos"/>
              </a:rPr>
              <a:t>SEVAMANIPUR AI  ·  AI4SEVA 2026  ·  PROTOTYPE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18"/>
          <p:cNvSpPr/>
          <p:nvPr/>
        </p:nvSpPr>
        <p:spPr>
          <a:xfrm>
            <a:off x="11049120" y="6546960"/>
            <a:ext cx="5940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b8c9e3"/>
                </a:solidFill>
                <a:latin typeface="Aptos"/>
              </a:rPr>
              <a:t>01 / 06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6172200" y="914400"/>
            <a:ext cx="5379840" cy="302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91760" cy="109440"/>
          </a:xfrm>
          <a:prstGeom prst="rect">
            <a:avLst/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603360" y="34740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1769e0"/>
                </a:solidFill>
                <a:latin typeface="Aptos"/>
              </a:rPr>
              <a:t>02  /  PROBLEM &amp; SOLUTION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603360" y="658440"/>
            <a:ext cx="10984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2700" spc="-1" strike="noStrike">
                <a:solidFill>
                  <a:srgbClr val="10234b"/>
                </a:solidFill>
                <a:latin typeface="Aptos"/>
              </a:rPr>
              <a:t>Help citizens move from questions to next steps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567000" y="6546960"/>
            <a:ext cx="6400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8795a8"/>
                </a:solidFill>
                <a:latin typeface="Aptos"/>
              </a:rPr>
              <a:t>SEVAMANIPUR AI  ·  AI4SEVA 2026  ·  PROTOTYPE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11049120" y="6546960"/>
            <a:ext cx="5940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8795a8"/>
                </a:solidFill>
                <a:latin typeface="Aptos"/>
              </a:rPr>
              <a:t>02 / 06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658440" y="1508760"/>
            <a:ext cx="365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000" spc="-1" strike="noStrike">
                <a:solidFill>
                  <a:srgbClr val="5d6c82"/>
                </a:solidFill>
                <a:latin typeface="Aptos"/>
              </a:rPr>
              <a:t>THE CITIZEN PROBLEM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ed Rectangle 7"/>
          <p:cNvSpPr/>
          <p:nvPr/>
        </p:nvSpPr>
        <p:spPr>
          <a:xfrm>
            <a:off x="640080" y="1828800"/>
            <a:ext cx="3401280" cy="138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Rounded Rectangle 8"/>
          <p:cNvSpPr/>
          <p:nvPr/>
        </p:nvSpPr>
        <p:spPr>
          <a:xfrm>
            <a:off x="640080" y="1828800"/>
            <a:ext cx="54360" cy="1389600"/>
          </a:xfrm>
          <a:prstGeom prst="roundRect">
            <a:avLst>
              <a:gd name="adj" fmla="val 12000"/>
            </a:avLst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9"/>
          <p:cNvSpPr/>
          <p:nvPr/>
        </p:nvSpPr>
        <p:spPr>
          <a:xfrm>
            <a:off x="841320" y="2002680"/>
            <a:ext cx="3035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182742"/>
                </a:solidFill>
                <a:latin typeface="Aptos"/>
              </a:rPr>
              <a:t>“</a:t>
            </a:r>
            <a:r>
              <a:rPr b="1" lang="en-US" sz="1500" spc="-1" strike="noStrike">
                <a:solidFill>
                  <a:srgbClr val="182742"/>
                </a:solidFill>
                <a:latin typeface="Aptos"/>
              </a:rPr>
              <a:t>What might fit me?”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841320" y="2432160"/>
            <a:ext cx="3017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50" spc="-1" strike="noStrike">
                <a:solidFill>
                  <a:srgbClr val="5d6c82"/>
                </a:solidFill>
                <a:latin typeface="Aptos"/>
              </a:rPr>
              <a:t>Scheme rules can be hard to find and compare.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11"/>
          <p:cNvSpPr/>
          <p:nvPr/>
        </p:nvSpPr>
        <p:spPr>
          <a:xfrm>
            <a:off x="4169520" y="1828800"/>
            <a:ext cx="3401280" cy="138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ounded Rectangle 12"/>
          <p:cNvSpPr/>
          <p:nvPr/>
        </p:nvSpPr>
        <p:spPr>
          <a:xfrm>
            <a:off x="4169520" y="1828800"/>
            <a:ext cx="54360" cy="1389600"/>
          </a:xfrm>
          <a:prstGeom prst="roundRect">
            <a:avLst>
              <a:gd name="adj" fmla="val 12000"/>
            </a:avLst>
          </a:prstGeom>
          <a:solidFill>
            <a:srgbClr val="22b8d6"/>
          </a:solidFill>
          <a:ln>
            <a:solidFill>
              <a:srgbClr val="22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13"/>
          <p:cNvSpPr/>
          <p:nvPr/>
        </p:nvSpPr>
        <p:spPr>
          <a:xfrm>
            <a:off x="4370760" y="2002680"/>
            <a:ext cx="3035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182742"/>
                </a:solidFill>
                <a:latin typeface="Aptos"/>
              </a:rPr>
              <a:t>“</a:t>
            </a:r>
            <a:r>
              <a:rPr b="1" lang="en-US" sz="1500" spc="-1" strike="noStrike">
                <a:solidFill>
                  <a:srgbClr val="182742"/>
                </a:solidFill>
                <a:latin typeface="Aptos"/>
              </a:rPr>
              <a:t>What do I need?”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14"/>
          <p:cNvSpPr/>
          <p:nvPr/>
        </p:nvSpPr>
        <p:spPr>
          <a:xfrm>
            <a:off x="4370760" y="2432160"/>
            <a:ext cx="3017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50" spc="-1" strike="noStrike">
                <a:solidFill>
                  <a:srgbClr val="5d6c82"/>
                </a:solidFill>
                <a:latin typeface="Aptos"/>
              </a:rPr>
              <a:t>Documents and application steps are spread across sources.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ounded Rectangle 15"/>
          <p:cNvSpPr/>
          <p:nvPr/>
        </p:nvSpPr>
        <p:spPr>
          <a:xfrm>
            <a:off x="7699320" y="1828800"/>
            <a:ext cx="3565800" cy="138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Rounded Rectangle 16"/>
          <p:cNvSpPr/>
          <p:nvPr/>
        </p:nvSpPr>
        <p:spPr>
          <a:xfrm>
            <a:off x="7699320" y="1828800"/>
            <a:ext cx="54360" cy="1389600"/>
          </a:xfrm>
          <a:prstGeom prst="roundRect">
            <a:avLst>
              <a:gd name="adj" fmla="val 12000"/>
            </a:avLst>
          </a:prstGeom>
          <a:solidFill>
            <a:srgbClr val="ffc45b"/>
          </a:solidFill>
          <a:ln>
            <a:solidFill>
              <a:srgbClr val="ffc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17"/>
          <p:cNvSpPr/>
          <p:nvPr/>
        </p:nvSpPr>
        <p:spPr>
          <a:xfrm>
            <a:off x="7900560" y="200268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182742"/>
                </a:solidFill>
                <a:latin typeface="Aptos"/>
              </a:rPr>
              <a:t>“</a:t>
            </a:r>
            <a:r>
              <a:rPr b="1" lang="en-US" sz="1500" spc="-1" strike="noStrike">
                <a:solidFill>
                  <a:srgbClr val="182742"/>
                </a:solidFill>
                <a:latin typeface="Aptos"/>
              </a:rPr>
              <a:t>What happens next?”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8"/>
          <p:cNvSpPr/>
          <p:nvPr/>
        </p:nvSpPr>
        <p:spPr>
          <a:xfrm>
            <a:off x="7900560" y="2432160"/>
            <a:ext cx="31816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50" spc="-1" strike="noStrike">
                <a:solidFill>
                  <a:srgbClr val="5d6c82"/>
                </a:solidFill>
                <a:latin typeface="Aptos"/>
              </a:rPr>
              <a:t>People need guidance, while the department makes the final decision.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19"/>
          <p:cNvSpPr/>
          <p:nvPr/>
        </p:nvSpPr>
        <p:spPr>
          <a:xfrm>
            <a:off x="658440" y="358452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000" spc="-1" strike="noStrike">
                <a:solidFill>
                  <a:srgbClr val="5d6c82"/>
                </a:solidFill>
                <a:latin typeface="Aptos"/>
              </a:rPr>
              <a:t>OUR RESPONSE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ounded Rectangle 20"/>
          <p:cNvSpPr/>
          <p:nvPr/>
        </p:nvSpPr>
        <p:spPr>
          <a:xfrm>
            <a:off x="658440" y="3950280"/>
            <a:ext cx="3328200" cy="1142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Rounded Rectangle 21"/>
          <p:cNvSpPr/>
          <p:nvPr/>
        </p:nvSpPr>
        <p:spPr>
          <a:xfrm>
            <a:off x="822960" y="4160520"/>
            <a:ext cx="438480" cy="438480"/>
          </a:xfrm>
          <a:prstGeom prst="roundRect">
            <a:avLst>
              <a:gd name="adj" fmla="val 12000"/>
            </a:avLst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22"/>
          <p:cNvSpPr/>
          <p:nvPr/>
        </p:nvSpPr>
        <p:spPr>
          <a:xfrm>
            <a:off x="822960" y="4279320"/>
            <a:ext cx="438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01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23"/>
          <p:cNvSpPr/>
          <p:nvPr/>
        </p:nvSpPr>
        <p:spPr>
          <a:xfrm>
            <a:off x="1408320" y="41238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182742"/>
                </a:solidFill>
                <a:latin typeface="Aptos"/>
              </a:rPr>
              <a:t>Share basics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24"/>
          <p:cNvSpPr/>
          <p:nvPr/>
        </p:nvSpPr>
        <p:spPr>
          <a:xfrm>
            <a:off x="1408320" y="4489560"/>
            <a:ext cx="2331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5d6c82"/>
                </a:solidFill>
                <a:latin typeface="Aptos"/>
              </a:rPr>
              <a:t>Age · income · work · area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25"/>
          <p:cNvSpPr/>
          <p:nvPr/>
        </p:nvSpPr>
        <p:spPr>
          <a:xfrm>
            <a:off x="4041720" y="432504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769e0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ounded Rectangle 26"/>
          <p:cNvSpPr/>
          <p:nvPr/>
        </p:nvSpPr>
        <p:spPr>
          <a:xfrm>
            <a:off x="4334400" y="3950280"/>
            <a:ext cx="3328200" cy="1142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Rounded Rectangle 27"/>
          <p:cNvSpPr/>
          <p:nvPr/>
        </p:nvSpPr>
        <p:spPr>
          <a:xfrm>
            <a:off x="4498920" y="4160520"/>
            <a:ext cx="438480" cy="438480"/>
          </a:xfrm>
          <a:prstGeom prst="roundRect">
            <a:avLst>
              <a:gd name="adj" fmla="val 12000"/>
            </a:avLst>
          </a:prstGeom>
          <a:solidFill>
            <a:srgbClr val="22b8d6"/>
          </a:solidFill>
          <a:ln>
            <a:solidFill>
              <a:srgbClr val="22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28"/>
          <p:cNvSpPr/>
          <p:nvPr/>
        </p:nvSpPr>
        <p:spPr>
          <a:xfrm>
            <a:off x="4498920" y="4279320"/>
            <a:ext cx="438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02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29"/>
          <p:cNvSpPr/>
          <p:nvPr/>
        </p:nvSpPr>
        <p:spPr>
          <a:xfrm>
            <a:off x="5083920" y="41238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182742"/>
                </a:solidFill>
                <a:latin typeface="Aptos"/>
              </a:rPr>
              <a:t>See possible matches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30"/>
          <p:cNvSpPr/>
          <p:nvPr/>
        </p:nvSpPr>
        <p:spPr>
          <a:xfrm>
            <a:off x="5083920" y="4489560"/>
            <a:ext cx="2331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5d6c82"/>
                </a:solidFill>
                <a:latin typeface="Aptos"/>
              </a:rPr>
              <a:t>Basic rule checks + reasons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31"/>
          <p:cNvSpPr/>
          <p:nvPr/>
        </p:nvSpPr>
        <p:spPr>
          <a:xfrm>
            <a:off x="7717680" y="432504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769e0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ounded Rectangle 32"/>
          <p:cNvSpPr/>
          <p:nvPr/>
        </p:nvSpPr>
        <p:spPr>
          <a:xfrm>
            <a:off x="8010000" y="3950280"/>
            <a:ext cx="3328200" cy="1142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Rounded Rectangle 33"/>
          <p:cNvSpPr/>
          <p:nvPr/>
        </p:nvSpPr>
        <p:spPr>
          <a:xfrm>
            <a:off x="8174880" y="4160520"/>
            <a:ext cx="438480" cy="438480"/>
          </a:xfrm>
          <a:prstGeom prst="roundRect">
            <a:avLst>
              <a:gd name="adj" fmla="val 12000"/>
            </a:avLst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34"/>
          <p:cNvSpPr/>
          <p:nvPr/>
        </p:nvSpPr>
        <p:spPr>
          <a:xfrm>
            <a:off x="8174880" y="4279320"/>
            <a:ext cx="438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03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35"/>
          <p:cNvSpPr/>
          <p:nvPr/>
        </p:nvSpPr>
        <p:spPr>
          <a:xfrm>
            <a:off x="8759880" y="41238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182742"/>
                </a:solidFill>
                <a:latin typeface="Aptos"/>
              </a:rPr>
              <a:t>Plan next steps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36"/>
          <p:cNvSpPr/>
          <p:nvPr/>
        </p:nvSpPr>
        <p:spPr>
          <a:xfrm>
            <a:off x="8759880" y="4489560"/>
            <a:ext cx="2331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5d6c82"/>
                </a:solidFill>
                <a:latin typeface="Aptos"/>
              </a:rPr>
              <a:t>Documents · process · official links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ounded Rectangle 37"/>
          <p:cNvSpPr/>
          <p:nvPr/>
        </p:nvSpPr>
        <p:spPr>
          <a:xfrm>
            <a:off x="658440" y="5413320"/>
            <a:ext cx="10515240" cy="548280"/>
          </a:xfrm>
          <a:prstGeom prst="roundRect">
            <a:avLst>
              <a:gd name="adj" fmla="val 12000"/>
            </a:avLst>
          </a:prstGeom>
          <a:solidFill>
            <a:srgbClr val="eaf5f7"/>
          </a:solidFill>
          <a:ln>
            <a:solidFill>
              <a:srgbClr val="d4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38"/>
          <p:cNvSpPr/>
          <p:nvPr/>
        </p:nvSpPr>
        <p:spPr>
          <a:xfrm>
            <a:off x="877680" y="5577840"/>
            <a:ext cx="1010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0234b"/>
                </a:solidFill>
                <a:latin typeface="Aptos"/>
              </a:rPr>
              <a:t>The app offers guidance. The department decides eligibility.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91760" cy="109440"/>
          </a:xfrm>
          <a:prstGeom prst="rect">
            <a:avLst/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603360" y="34740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1769e0"/>
                </a:solidFill>
                <a:latin typeface="Aptos"/>
              </a:rPr>
              <a:t>03  /  HOW IT WORKS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603360" y="658440"/>
            <a:ext cx="10984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2700" spc="-1" strike="noStrike">
                <a:solidFill>
                  <a:srgbClr val="10234b"/>
                </a:solidFill>
                <a:latin typeface="Aptos"/>
              </a:rPr>
              <a:t>Clear rules. Useful explanations. Human decisions.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4"/>
          <p:cNvSpPr/>
          <p:nvPr/>
        </p:nvSpPr>
        <p:spPr>
          <a:xfrm>
            <a:off x="567000" y="6546960"/>
            <a:ext cx="6400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8795a8"/>
                </a:solidFill>
                <a:latin typeface="Aptos"/>
              </a:rPr>
              <a:t>SEVAMANIPUR AI  ·  AI4SEVA 2026  ·  PROTOTYPE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11049120" y="6546960"/>
            <a:ext cx="5940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8795a8"/>
                </a:solidFill>
                <a:latin typeface="Aptos"/>
              </a:rPr>
              <a:t>03 / 06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731520" y="166428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1769e0"/>
                </a:solidFill>
                <a:latin typeface="Aptos"/>
              </a:rPr>
              <a:t>PROFILE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3310200" y="166428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22b8d6"/>
                </a:solidFill>
                <a:latin typeface="Aptos"/>
              </a:rPr>
              <a:t>RULE MATCH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8"/>
          <p:cNvSpPr/>
          <p:nvPr/>
        </p:nvSpPr>
        <p:spPr>
          <a:xfrm>
            <a:off x="6016680" y="166428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1769e0"/>
                </a:solidFill>
                <a:latin typeface="Aptos"/>
              </a:rPr>
              <a:t>WHY THIS MATCH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9"/>
          <p:cNvSpPr/>
          <p:nvPr/>
        </p:nvSpPr>
        <p:spPr>
          <a:xfrm>
            <a:off x="8933760" y="166428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22b8d6"/>
                </a:solidFill>
                <a:latin typeface="Aptos"/>
              </a:rPr>
              <a:t>NEXT ACTION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ounded Rectangle 10"/>
          <p:cNvSpPr/>
          <p:nvPr/>
        </p:nvSpPr>
        <p:spPr>
          <a:xfrm>
            <a:off x="658440" y="1993320"/>
            <a:ext cx="2212560" cy="1142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Rounded Rectangle 11"/>
          <p:cNvSpPr/>
          <p:nvPr/>
        </p:nvSpPr>
        <p:spPr>
          <a:xfrm>
            <a:off x="658440" y="1993320"/>
            <a:ext cx="2212560" cy="72720"/>
          </a:xfrm>
          <a:prstGeom prst="roundRect">
            <a:avLst>
              <a:gd name="adj" fmla="val 12000"/>
            </a:avLst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12"/>
          <p:cNvSpPr/>
          <p:nvPr/>
        </p:nvSpPr>
        <p:spPr>
          <a:xfrm>
            <a:off x="795600" y="2240280"/>
            <a:ext cx="193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82742"/>
                </a:solidFill>
                <a:latin typeface="Aptos"/>
              </a:rPr>
              <a:t>Citizen inputs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13"/>
          <p:cNvSpPr/>
          <p:nvPr/>
        </p:nvSpPr>
        <p:spPr>
          <a:xfrm>
            <a:off x="795600" y="2597040"/>
            <a:ext cx="1938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r>
              <a:rPr b="0" lang="en-US" sz="1100" spc="-1" strike="noStrike">
                <a:solidFill>
                  <a:srgbClr val="5d6c82"/>
                </a:solidFill>
                <a:latin typeface="Aptos"/>
              </a:rPr>
              <a:t>Age, occupation,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100" spc="-1" strike="noStrike">
                <a:solidFill>
                  <a:srgbClr val="5d6c82"/>
                </a:solidFill>
                <a:latin typeface="Aptos"/>
              </a:rPr>
              <a:t>income and area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ounded Rectangle 14"/>
          <p:cNvSpPr/>
          <p:nvPr/>
        </p:nvSpPr>
        <p:spPr>
          <a:xfrm>
            <a:off x="3182040" y="1993320"/>
            <a:ext cx="2212560" cy="1142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Rounded Rectangle 15"/>
          <p:cNvSpPr/>
          <p:nvPr/>
        </p:nvSpPr>
        <p:spPr>
          <a:xfrm>
            <a:off x="3182040" y="1993320"/>
            <a:ext cx="2212560" cy="72720"/>
          </a:xfrm>
          <a:prstGeom prst="roundRect">
            <a:avLst>
              <a:gd name="adj" fmla="val 12000"/>
            </a:avLst>
          </a:prstGeom>
          <a:solidFill>
            <a:srgbClr val="22b8d6"/>
          </a:solidFill>
          <a:ln>
            <a:solidFill>
              <a:srgbClr val="22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16"/>
          <p:cNvSpPr/>
          <p:nvPr/>
        </p:nvSpPr>
        <p:spPr>
          <a:xfrm>
            <a:off x="3319200" y="2240280"/>
            <a:ext cx="193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82742"/>
                </a:solidFill>
                <a:latin typeface="Aptos"/>
              </a:rPr>
              <a:t>Deterministic checks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17"/>
          <p:cNvSpPr/>
          <p:nvPr/>
        </p:nvSpPr>
        <p:spPr>
          <a:xfrm>
            <a:off x="3319200" y="2597040"/>
            <a:ext cx="1938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r>
              <a:rPr b="0" lang="en-US" sz="1100" spc="-1" strike="noStrike">
                <a:solidFill>
                  <a:srgbClr val="5d6c82"/>
                </a:solidFill>
                <a:latin typeface="Aptos"/>
              </a:rPr>
              <a:t>Transparent scheme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100" spc="-1" strike="noStrike">
                <a:solidFill>
                  <a:srgbClr val="5d6c82"/>
                </a:solidFill>
                <a:latin typeface="Aptos"/>
              </a:rPr>
              <a:t>criteria filters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18"/>
          <p:cNvSpPr/>
          <p:nvPr/>
        </p:nvSpPr>
        <p:spPr>
          <a:xfrm>
            <a:off x="5852160" y="1993320"/>
            <a:ext cx="2212560" cy="1142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Rounded Rectangle 19"/>
          <p:cNvSpPr/>
          <p:nvPr/>
        </p:nvSpPr>
        <p:spPr>
          <a:xfrm>
            <a:off x="5852160" y="1993320"/>
            <a:ext cx="2212560" cy="72720"/>
          </a:xfrm>
          <a:prstGeom prst="roundRect">
            <a:avLst>
              <a:gd name="adj" fmla="val 12000"/>
            </a:avLst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20"/>
          <p:cNvSpPr/>
          <p:nvPr/>
        </p:nvSpPr>
        <p:spPr>
          <a:xfrm>
            <a:off x="5989320" y="2240280"/>
            <a:ext cx="193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82742"/>
                </a:solidFill>
                <a:latin typeface="Aptos"/>
              </a:rPr>
              <a:t>Explainable result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21"/>
          <p:cNvSpPr/>
          <p:nvPr/>
        </p:nvSpPr>
        <p:spPr>
          <a:xfrm>
            <a:off x="5989320" y="2597040"/>
            <a:ext cx="1938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r>
              <a:rPr b="0" lang="en-US" sz="1100" spc="-1" strike="noStrike">
                <a:solidFill>
                  <a:srgbClr val="5d6c82"/>
                </a:solidFill>
                <a:latin typeface="Aptos"/>
              </a:rPr>
              <a:t>Show match reasons,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100" spc="-1" strike="noStrike">
                <a:solidFill>
                  <a:srgbClr val="5d6c82"/>
                </a:solidFill>
                <a:latin typeface="Aptos"/>
              </a:rPr>
              <a:t>source and caveats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ounded Rectangle 22"/>
          <p:cNvSpPr/>
          <p:nvPr/>
        </p:nvSpPr>
        <p:spPr>
          <a:xfrm>
            <a:off x="8732520" y="1993320"/>
            <a:ext cx="2212560" cy="1142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Rounded Rectangle 23"/>
          <p:cNvSpPr/>
          <p:nvPr/>
        </p:nvSpPr>
        <p:spPr>
          <a:xfrm>
            <a:off x="8732520" y="1993320"/>
            <a:ext cx="2212560" cy="72720"/>
          </a:xfrm>
          <a:prstGeom prst="roundRect">
            <a:avLst>
              <a:gd name="adj" fmla="val 12000"/>
            </a:avLst>
          </a:prstGeom>
          <a:solidFill>
            <a:srgbClr val="22b8d6"/>
          </a:solidFill>
          <a:ln>
            <a:solidFill>
              <a:srgbClr val="22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24"/>
          <p:cNvSpPr/>
          <p:nvPr/>
        </p:nvSpPr>
        <p:spPr>
          <a:xfrm>
            <a:off x="8869680" y="2240280"/>
            <a:ext cx="193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82742"/>
                </a:solidFill>
                <a:latin typeface="Aptos"/>
              </a:rPr>
              <a:t>Guided application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25"/>
          <p:cNvSpPr/>
          <p:nvPr/>
        </p:nvSpPr>
        <p:spPr>
          <a:xfrm>
            <a:off x="8869680" y="2597040"/>
            <a:ext cx="1938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r>
              <a:rPr b="0" lang="en-US" sz="1100" spc="-1" strike="noStrike">
                <a:solidFill>
                  <a:srgbClr val="5d6c82"/>
                </a:solidFill>
                <a:latin typeface="Aptos"/>
              </a:rPr>
              <a:t>Documents, process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100" spc="-1" strike="noStrike">
                <a:solidFill>
                  <a:srgbClr val="5d6c82"/>
                </a:solidFill>
                <a:latin typeface="Aptos"/>
              </a:rPr>
              <a:t>and AI assistance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26"/>
          <p:cNvSpPr/>
          <p:nvPr/>
        </p:nvSpPr>
        <p:spPr>
          <a:xfrm>
            <a:off x="2862000" y="2368440"/>
            <a:ext cx="255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769e0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27"/>
          <p:cNvSpPr/>
          <p:nvPr/>
        </p:nvSpPr>
        <p:spPr>
          <a:xfrm>
            <a:off x="5541120" y="2368440"/>
            <a:ext cx="255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769e0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28"/>
          <p:cNvSpPr/>
          <p:nvPr/>
        </p:nvSpPr>
        <p:spPr>
          <a:xfrm>
            <a:off x="8339400" y="2368440"/>
            <a:ext cx="255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769e0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ounded Rectangle 29"/>
          <p:cNvSpPr/>
          <p:nvPr/>
        </p:nvSpPr>
        <p:spPr>
          <a:xfrm>
            <a:off x="658440" y="3584520"/>
            <a:ext cx="3401280" cy="1416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Rounded Rectangle 30"/>
          <p:cNvSpPr/>
          <p:nvPr/>
        </p:nvSpPr>
        <p:spPr>
          <a:xfrm>
            <a:off x="658440" y="3584520"/>
            <a:ext cx="54360" cy="1416960"/>
          </a:xfrm>
          <a:prstGeom prst="roundRect">
            <a:avLst>
              <a:gd name="adj" fmla="val 12000"/>
            </a:avLst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31"/>
          <p:cNvSpPr/>
          <p:nvPr/>
        </p:nvSpPr>
        <p:spPr>
          <a:xfrm>
            <a:off x="859680" y="3758040"/>
            <a:ext cx="3035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182742"/>
                </a:solidFill>
                <a:latin typeface="Aptos"/>
              </a:rPr>
              <a:t>Basic rule checks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32"/>
          <p:cNvSpPr/>
          <p:nvPr/>
        </p:nvSpPr>
        <p:spPr>
          <a:xfrm>
            <a:off x="859680" y="4187880"/>
            <a:ext cx="30171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50" spc="-1" strike="noStrike">
                <a:solidFill>
                  <a:srgbClr val="5d6c82"/>
                </a:solidFill>
                <a:latin typeface="Aptos"/>
              </a:rPr>
              <a:t>The current matcher checks age, work, area and income.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33"/>
          <p:cNvSpPr/>
          <p:nvPr/>
        </p:nvSpPr>
        <p:spPr>
          <a:xfrm>
            <a:off x="4169520" y="3584520"/>
            <a:ext cx="3401280" cy="1416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ounded Rectangle 34"/>
          <p:cNvSpPr/>
          <p:nvPr/>
        </p:nvSpPr>
        <p:spPr>
          <a:xfrm>
            <a:off x="4169520" y="3584520"/>
            <a:ext cx="54360" cy="1416960"/>
          </a:xfrm>
          <a:prstGeom prst="roundRect">
            <a:avLst>
              <a:gd name="adj" fmla="val 12000"/>
            </a:avLst>
          </a:prstGeom>
          <a:solidFill>
            <a:srgbClr val="22b8d6"/>
          </a:solidFill>
          <a:ln>
            <a:solidFill>
              <a:srgbClr val="22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35"/>
          <p:cNvSpPr/>
          <p:nvPr/>
        </p:nvSpPr>
        <p:spPr>
          <a:xfrm>
            <a:off x="4370760" y="3758040"/>
            <a:ext cx="3035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182742"/>
                </a:solidFill>
                <a:latin typeface="Aptos"/>
              </a:rPr>
              <a:t>AI explains the catalog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36"/>
          <p:cNvSpPr/>
          <p:nvPr/>
        </p:nvSpPr>
        <p:spPr>
          <a:xfrm>
            <a:off x="4370760" y="4187880"/>
            <a:ext cx="30171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50" spc="-1" strike="noStrike">
                <a:solidFill>
                  <a:srgbClr val="5d6c82"/>
                </a:solidFill>
                <a:latin typeface="Aptos"/>
              </a:rPr>
              <a:t>The assistant explains available records and points to listed sources.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ounded Rectangle 37"/>
          <p:cNvSpPr/>
          <p:nvPr/>
        </p:nvSpPr>
        <p:spPr>
          <a:xfrm>
            <a:off x="7699320" y="3584520"/>
            <a:ext cx="3565800" cy="1416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Rounded Rectangle 38"/>
          <p:cNvSpPr/>
          <p:nvPr/>
        </p:nvSpPr>
        <p:spPr>
          <a:xfrm>
            <a:off x="7699320" y="3584520"/>
            <a:ext cx="54360" cy="1416960"/>
          </a:xfrm>
          <a:prstGeom prst="roundRect">
            <a:avLst>
              <a:gd name="adj" fmla="val 12000"/>
            </a:avLst>
          </a:prstGeom>
          <a:solidFill>
            <a:srgbClr val="ffc45b"/>
          </a:solidFill>
          <a:ln>
            <a:solidFill>
              <a:srgbClr val="ffc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39"/>
          <p:cNvSpPr/>
          <p:nvPr/>
        </p:nvSpPr>
        <p:spPr>
          <a:xfrm>
            <a:off x="7900560" y="375804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182742"/>
                </a:solidFill>
                <a:latin typeface="Aptos"/>
              </a:rPr>
              <a:t>Department decides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40"/>
          <p:cNvSpPr/>
          <p:nvPr/>
        </p:nvSpPr>
        <p:spPr>
          <a:xfrm>
            <a:off x="7900560" y="4187880"/>
            <a:ext cx="31816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50" spc="-1" strike="noStrike">
                <a:solidFill>
                  <a:srgbClr val="5d6c82"/>
                </a:solidFill>
                <a:latin typeface="Aptos"/>
              </a:rPr>
              <a:t>A match is not approval. Confirm current rules and application status with the department.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41"/>
          <p:cNvSpPr/>
          <p:nvPr/>
        </p:nvSpPr>
        <p:spPr>
          <a:xfrm>
            <a:off x="731520" y="5413320"/>
            <a:ext cx="10469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i="1" lang="en-US" sz="1050" spc="-1" strike="noStrike">
                <a:solidFill>
                  <a:srgbClr val="5d6c82"/>
                </a:solidFill>
                <a:latin typeface="Aptos"/>
              </a:rPr>
              <a:t>The matcher is a prototype: scheme-specific checks, such as disability or widow status, still need to be added.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1"/>
          <p:cNvSpPr/>
          <p:nvPr/>
        </p:nvSpPr>
        <p:spPr>
          <a:xfrm>
            <a:off x="0" y="0"/>
            <a:ext cx="12191760" cy="109440"/>
          </a:xfrm>
          <a:prstGeom prst="rect">
            <a:avLst/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2"/>
          <p:cNvSpPr/>
          <p:nvPr/>
        </p:nvSpPr>
        <p:spPr>
          <a:xfrm>
            <a:off x="603360" y="34740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1769e0"/>
                </a:solidFill>
                <a:latin typeface="Aptos"/>
              </a:rPr>
              <a:t>04  /  THE PROTOTYPE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3"/>
          <p:cNvSpPr/>
          <p:nvPr/>
        </p:nvSpPr>
        <p:spPr>
          <a:xfrm>
            <a:off x="603360" y="658440"/>
            <a:ext cx="10984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2700" spc="-1" strike="noStrike">
                <a:solidFill>
                  <a:srgbClr val="10234b"/>
                </a:solidFill>
                <a:latin typeface="Aptos"/>
              </a:rPr>
              <a:t>What works today — and what needs validation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4"/>
          <p:cNvSpPr/>
          <p:nvPr/>
        </p:nvSpPr>
        <p:spPr>
          <a:xfrm>
            <a:off x="567000" y="6546960"/>
            <a:ext cx="6400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8795a8"/>
                </a:solidFill>
                <a:latin typeface="Aptos"/>
              </a:rPr>
              <a:t>SEVAMANIPUR AI  ·  AI4SEVA 2026  ·  PROTOTYPE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5"/>
          <p:cNvSpPr/>
          <p:nvPr/>
        </p:nvSpPr>
        <p:spPr>
          <a:xfrm>
            <a:off x="11049120" y="6546960"/>
            <a:ext cx="5940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8795a8"/>
                </a:solidFill>
                <a:latin typeface="Aptos"/>
              </a:rPr>
              <a:t>04 / 06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9"/>
          <p:cNvSpPr/>
          <p:nvPr/>
        </p:nvSpPr>
        <p:spPr>
          <a:xfrm>
            <a:off x="6263640" y="157284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1769e0"/>
                </a:solidFill>
                <a:latin typeface="Aptos"/>
              </a:rPr>
              <a:t>CURRENT PROTOTYPE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ounded Rectangle 10"/>
          <p:cNvSpPr/>
          <p:nvPr/>
        </p:nvSpPr>
        <p:spPr>
          <a:xfrm>
            <a:off x="6236280" y="1901880"/>
            <a:ext cx="2349720" cy="11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Rounded Rectangle 11"/>
          <p:cNvSpPr/>
          <p:nvPr/>
        </p:nvSpPr>
        <p:spPr>
          <a:xfrm>
            <a:off x="6236280" y="1901880"/>
            <a:ext cx="54360" cy="1170000"/>
          </a:xfrm>
          <a:prstGeom prst="roundRect">
            <a:avLst>
              <a:gd name="adj" fmla="val 12000"/>
            </a:avLst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12"/>
          <p:cNvSpPr/>
          <p:nvPr/>
        </p:nvSpPr>
        <p:spPr>
          <a:xfrm>
            <a:off x="6437520" y="2075760"/>
            <a:ext cx="1983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82742"/>
                </a:solidFill>
                <a:latin typeface="Aptos"/>
              </a:rPr>
              <a:t>Scheme finder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13"/>
          <p:cNvSpPr/>
          <p:nvPr/>
        </p:nvSpPr>
        <p:spPr>
          <a:xfrm>
            <a:off x="6437520" y="2505600"/>
            <a:ext cx="196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5d6c82"/>
                </a:solidFill>
                <a:latin typeface="Aptos"/>
              </a:rPr>
              <a:t>Basic checks: age, work, area and income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ounded Rectangle 14"/>
          <p:cNvSpPr/>
          <p:nvPr/>
        </p:nvSpPr>
        <p:spPr>
          <a:xfrm>
            <a:off x="8741520" y="1901880"/>
            <a:ext cx="2505240" cy="11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Rounded Rectangle 15"/>
          <p:cNvSpPr/>
          <p:nvPr/>
        </p:nvSpPr>
        <p:spPr>
          <a:xfrm>
            <a:off x="8741520" y="1901880"/>
            <a:ext cx="54360" cy="1170000"/>
          </a:xfrm>
          <a:prstGeom prst="roundRect">
            <a:avLst>
              <a:gd name="adj" fmla="val 12000"/>
            </a:avLst>
          </a:prstGeom>
          <a:solidFill>
            <a:srgbClr val="22b8d6"/>
          </a:solidFill>
          <a:ln>
            <a:solidFill>
              <a:srgbClr val="22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16"/>
          <p:cNvSpPr/>
          <p:nvPr/>
        </p:nvSpPr>
        <p:spPr>
          <a:xfrm>
            <a:off x="8942760" y="2075760"/>
            <a:ext cx="2139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82742"/>
                </a:solidFill>
                <a:latin typeface="Aptos"/>
              </a:rPr>
              <a:t>Seva AI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17"/>
          <p:cNvSpPr/>
          <p:nvPr/>
        </p:nvSpPr>
        <p:spPr>
          <a:xfrm>
            <a:off x="8942760" y="2505600"/>
            <a:ext cx="212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5d6c82"/>
                </a:solidFill>
                <a:latin typeface="Aptos"/>
              </a:rPr>
              <a:t>Explains catalog information in a chat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ounded Rectangle 18"/>
          <p:cNvSpPr/>
          <p:nvPr/>
        </p:nvSpPr>
        <p:spPr>
          <a:xfrm>
            <a:off x="6236280" y="3237120"/>
            <a:ext cx="2349720" cy="11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Rounded Rectangle 19"/>
          <p:cNvSpPr/>
          <p:nvPr/>
        </p:nvSpPr>
        <p:spPr>
          <a:xfrm>
            <a:off x="6236280" y="3237120"/>
            <a:ext cx="54360" cy="1170000"/>
          </a:xfrm>
          <a:prstGeom prst="roundRect">
            <a:avLst>
              <a:gd name="adj" fmla="val 12000"/>
            </a:avLst>
          </a:prstGeom>
          <a:solidFill>
            <a:srgbClr val="22b8d6"/>
          </a:solidFill>
          <a:ln>
            <a:solidFill>
              <a:srgbClr val="22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20"/>
          <p:cNvSpPr/>
          <p:nvPr/>
        </p:nvSpPr>
        <p:spPr>
          <a:xfrm>
            <a:off x="6437520" y="3410640"/>
            <a:ext cx="1983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82742"/>
                </a:solidFill>
                <a:latin typeface="Aptos"/>
              </a:rPr>
              <a:t>Languages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21"/>
          <p:cNvSpPr/>
          <p:nvPr/>
        </p:nvSpPr>
        <p:spPr>
          <a:xfrm>
            <a:off x="6437520" y="3840480"/>
            <a:ext cx="196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5d6c82"/>
                </a:solidFill>
                <a:latin typeface="Aptos"/>
              </a:rPr>
              <a:t>English, Hindi and Meiteilon controls; translation review remains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ounded Rectangle 22"/>
          <p:cNvSpPr/>
          <p:nvPr/>
        </p:nvSpPr>
        <p:spPr>
          <a:xfrm>
            <a:off x="8741520" y="3237120"/>
            <a:ext cx="2505240" cy="11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Rounded Rectangle 23"/>
          <p:cNvSpPr/>
          <p:nvPr/>
        </p:nvSpPr>
        <p:spPr>
          <a:xfrm>
            <a:off x="8741520" y="3237120"/>
            <a:ext cx="54360" cy="1170000"/>
          </a:xfrm>
          <a:prstGeom prst="roundRect">
            <a:avLst>
              <a:gd name="adj" fmla="val 12000"/>
            </a:avLst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24"/>
          <p:cNvSpPr/>
          <p:nvPr/>
        </p:nvSpPr>
        <p:spPr>
          <a:xfrm>
            <a:off x="8942760" y="3410640"/>
            <a:ext cx="2139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82742"/>
                </a:solidFill>
                <a:latin typeface="Aptos"/>
              </a:rPr>
              <a:t>Live architecture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25"/>
          <p:cNvSpPr/>
          <p:nvPr/>
        </p:nvSpPr>
        <p:spPr>
          <a:xfrm>
            <a:off x="8942760" y="3840480"/>
            <a:ext cx="212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5d6c82"/>
                </a:solidFill>
                <a:latin typeface="Aptos"/>
              </a:rPr>
              <a:t>Vercel app and APIs; Supabase catalog and signed-in data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ounded Rectangle 26"/>
          <p:cNvSpPr/>
          <p:nvPr/>
        </p:nvSpPr>
        <p:spPr>
          <a:xfrm>
            <a:off x="6254640" y="4645080"/>
            <a:ext cx="4974120" cy="767880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f4d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27"/>
          <p:cNvSpPr/>
          <p:nvPr/>
        </p:nvSpPr>
        <p:spPr>
          <a:xfrm>
            <a:off x="6419160" y="478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885d12"/>
                </a:solidFill>
                <a:latin typeface="Aptos"/>
              </a:rPr>
              <a:t>DATA STATUS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28"/>
          <p:cNvSpPr/>
          <p:nvPr/>
        </p:nvSpPr>
        <p:spPr>
          <a:xfrm>
            <a:off x="7498080" y="4709160"/>
            <a:ext cx="3492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60" spc="-1" strike="noStrike">
                <a:solidFill>
                  <a:srgbClr val="704d18"/>
                </a:solidFill>
                <a:latin typeface="Aptos"/>
              </a:rPr>
              <a:t>7 source-linked Social Welfare records are in Supabase; the department must confirm current rules and availability. Other records are samples.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29"/>
          <p:cNvSpPr/>
          <p:nvPr/>
        </p:nvSpPr>
        <p:spPr>
          <a:xfrm>
            <a:off x="713160" y="574236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0234b"/>
                </a:solidFill>
                <a:latin typeface="Aptos"/>
              </a:rPr>
              <a:t>Next: validate the catalog, add scheme-specific rules and test with citizens.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307440" y="1600200"/>
            <a:ext cx="5636160" cy="316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0"/>
            <a:ext cx="12191760" cy="109440"/>
          </a:xfrm>
          <a:prstGeom prst="rect">
            <a:avLst/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603360" y="34740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1769e0"/>
                </a:solidFill>
                <a:latin typeface="Aptos"/>
              </a:rPr>
              <a:t>05  /  PILOT &amp; SUSTAINABILITY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603360" y="658440"/>
            <a:ext cx="10984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2700" spc="-1" strike="noStrike">
                <a:solidFill>
                  <a:srgbClr val="10234b"/>
                </a:solidFill>
                <a:latin typeface="Aptos"/>
              </a:rPr>
              <a:t>A practical pilot needs a trusted owner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4"/>
          <p:cNvSpPr/>
          <p:nvPr/>
        </p:nvSpPr>
        <p:spPr>
          <a:xfrm>
            <a:off x="567000" y="6546960"/>
            <a:ext cx="6400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8795a8"/>
                </a:solidFill>
                <a:latin typeface="Aptos"/>
              </a:rPr>
              <a:t>SEVAMANIPUR AI  ·  AI4SEVA 2026  ·  PROTOTYPE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5"/>
          <p:cNvSpPr/>
          <p:nvPr/>
        </p:nvSpPr>
        <p:spPr>
          <a:xfrm>
            <a:off x="11049120" y="6546960"/>
            <a:ext cx="5940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8795a8"/>
                </a:solidFill>
                <a:latin typeface="Aptos"/>
              </a:rPr>
              <a:t>05 / 06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6"/>
          <p:cNvSpPr/>
          <p:nvPr/>
        </p:nvSpPr>
        <p:spPr>
          <a:xfrm>
            <a:off x="694800" y="1517760"/>
            <a:ext cx="365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000" spc="-1" strike="noStrike">
                <a:solidFill>
                  <a:srgbClr val="1769e0"/>
                </a:solidFill>
                <a:latin typeface="Aptos"/>
              </a:rPr>
              <a:t>PUBLIC VALUE FIRST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7"/>
          <p:cNvSpPr/>
          <p:nvPr/>
        </p:nvSpPr>
        <p:spPr>
          <a:xfrm>
            <a:off x="694800" y="1856160"/>
            <a:ext cx="4571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2100" spc="-1" strike="noStrike">
                <a:solidFill>
                  <a:srgbClr val="10234b"/>
                </a:solidFill>
                <a:latin typeface="Aptos"/>
              </a:rPr>
              <a:t>Keep scheme discovery and guidance free for citizens.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8"/>
          <p:cNvSpPr/>
          <p:nvPr/>
        </p:nvSpPr>
        <p:spPr>
          <a:xfrm>
            <a:off x="5925240" y="1517760"/>
            <a:ext cx="365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000" spc="-1" strike="noStrike">
                <a:solidFill>
                  <a:srgbClr val="22b8d6"/>
                </a:solidFill>
                <a:latin typeface="Aptos"/>
              </a:rPr>
              <a:t>SUSTAINABILITY MODEL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ounded Rectangle 9"/>
          <p:cNvSpPr/>
          <p:nvPr/>
        </p:nvSpPr>
        <p:spPr>
          <a:xfrm>
            <a:off x="5888880" y="1856160"/>
            <a:ext cx="2514240" cy="1316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Rounded Rectangle 10"/>
          <p:cNvSpPr/>
          <p:nvPr/>
        </p:nvSpPr>
        <p:spPr>
          <a:xfrm>
            <a:off x="5888880" y="1856160"/>
            <a:ext cx="54360" cy="1316520"/>
          </a:xfrm>
          <a:prstGeom prst="roundRect">
            <a:avLst>
              <a:gd name="adj" fmla="val 12000"/>
            </a:avLst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11"/>
          <p:cNvSpPr/>
          <p:nvPr/>
        </p:nvSpPr>
        <p:spPr>
          <a:xfrm>
            <a:off x="6089760" y="2030040"/>
            <a:ext cx="2148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82742"/>
                </a:solidFill>
                <a:latin typeface="Aptos"/>
              </a:rPr>
              <a:t>Content owner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12"/>
          <p:cNvSpPr/>
          <p:nvPr/>
        </p:nvSpPr>
        <p:spPr>
          <a:xfrm>
            <a:off x="6089760" y="2459880"/>
            <a:ext cx="213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5d6c82"/>
                </a:solidFill>
                <a:latin typeface="Aptos"/>
              </a:rPr>
              <a:t>Department reviews rules, sources and links.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ounded Rectangle 13"/>
          <p:cNvSpPr/>
          <p:nvPr/>
        </p:nvSpPr>
        <p:spPr>
          <a:xfrm>
            <a:off x="8558640" y="1856160"/>
            <a:ext cx="2614680" cy="1316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Rounded Rectangle 14"/>
          <p:cNvSpPr/>
          <p:nvPr/>
        </p:nvSpPr>
        <p:spPr>
          <a:xfrm>
            <a:off x="8558640" y="1856160"/>
            <a:ext cx="54360" cy="1316520"/>
          </a:xfrm>
          <a:prstGeom prst="roundRect">
            <a:avLst>
              <a:gd name="adj" fmla="val 12000"/>
            </a:avLst>
          </a:prstGeom>
          <a:solidFill>
            <a:srgbClr val="22b8d6"/>
          </a:solidFill>
          <a:ln>
            <a:solidFill>
              <a:srgbClr val="22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15"/>
          <p:cNvSpPr/>
          <p:nvPr/>
        </p:nvSpPr>
        <p:spPr>
          <a:xfrm>
            <a:off x="8759880" y="2030040"/>
            <a:ext cx="2248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82742"/>
                </a:solidFill>
                <a:latin typeface="Aptos"/>
              </a:rPr>
              <a:t>Review schedule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16"/>
          <p:cNvSpPr/>
          <p:nvPr/>
        </p:nvSpPr>
        <p:spPr>
          <a:xfrm>
            <a:off x="8759880" y="2459880"/>
            <a:ext cx="22309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5d6c82"/>
                </a:solidFill>
                <a:latin typeface="Aptos"/>
              </a:rPr>
              <a:t>Check changes and application status regularly.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ounded Rectangle 17"/>
          <p:cNvSpPr/>
          <p:nvPr/>
        </p:nvSpPr>
        <p:spPr>
          <a:xfrm>
            <a:off x="694800" y="2862000"/>
            <a:ext cx="2514240" cy="1316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Rounded Rectangle 18"/>
          <p:cNvSpPr/>
          <p:nvPr/>
        </p:nvSpPr>
        <p:spPr>
          <a:xfrm>
            <a:off x="694800" y="2862000"/>
            <a:ext cx="54360" cy="1316520"/>
          </a:xfrm>
          <a:prstGeom prst="roundRect">
            <a:avLst>
              <a:gd name="adj" fmla="val 12000"/>
            </a:avLst>
          </a:prstGeom>
          <a:solidFill>
            <a:srgbClr val="22b8d6"/>
          </a:solidFill>
          <a:ln>
            <a:solidFill>
              <a:srgbClr val="22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19"/>
          <p:cNvSpPr/>
          <p:nvPr/>
        </p:nvSpPr>
        <p:spPr>
          <a:xfrm>
            <a:off x="896040" y="3035880"/>
            <a:ext cx="2148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82742"/>
                </a:solidFill>
                <a:latin typeface="Aptos"/>
              </a:rPr>
              <a:t>Pilot &amp; learn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20"/>
          <p:cNvSpPr/>
          <p:nvPr/>
        </p:nvSpPr>
        <p:spPr>
          <a:xfrm>
            <a:off x="896040" y="3465720"/>
            <a:ext cx="213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5d6c82"/>
                </a:solidFill>
                <a:latin typeface="Aptos"/>
              </a:rPr>
              <a:t>Test whether citizens reach the right next step.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ounded Rectangle 21"/>
          <p:cNvSpPr/>
          <p:nvPr/>
        </p:nvSpPr>
        <p:spPr>
          <a:xfrm>
            <a:off x="3364920" y="2862000"/>
            <a:ext cx="2514240" cy="1316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Rounded Rectangle 22"/>
          <p:cNvSpPr/>
          <p:nvPr/>
        </p:nvSpPr>
        <p:spPr>
          <a:xfrm>
            <a:off x="3364920" y="2862000"/>
            <a:ext cx="54360" cy="1316520"/>
          </a:xfrm>
          <a:prstGeom prst="roundRect">
            <a:avLst>
              <a:gd name="adj" fmla="val 12000"/>
            </a:avLst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23"/>
          <p:cNvSpPr/>
          <p:nvPr/>
        </p:nvSpPr>
        <p:spPr>
          <a:xfrm>
            <a:off x="3566160" y="3035880"/>
            <a:ext cx="2148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82742"/>
                </a:solidFill>
                <a:latin typeface="Aptos"/>
              </a:rPr>
              <a:t>Protect users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Box 24"/>
          <p:cNvSpPr/>
          <p:nvPr/>
        </p:nvSpPr>
        <p:spPr>
          <a:xfrm>
            <a:off x="3566160" y="3465720"/>
            <a:ext cx="213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5d6c82"/>
                </a:solidFill>
                <a:latin typeface="Aptos"/>
              </a:rPr>
              <a:t>Minimize personal data and review privacy needs.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ounded Rectangle 25"/>
          <p:cNvSpPr/>
          <p:nvPr/>
        </p:nvSpPr>
        <p:spPr>
          <a:xfrm>
            <a:off x="5888880" y="3493080"/>
            <a:ext cx="2514240" cy="1316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Rounded Rectangle 26"/>
          <p:cNvSpPr/>
          <p:nvPr/>
        </p:nvSpPr>
        <p:spPr>
          <a:xfrm>
            <a:off x="5888880" y="3493080"/>
            <a:ext cx="54360" cy="1316520"/>
          </a:xfrm>
          <a:prstGeom prst="roundRect">
            <a:avLst>
              <a:gd name="adj" fmla="val 12000"/>
            </a:avLst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27"/>
          <p:cNvSpPr/>
          <p:nvPr/>
        </p:nvSpPr>
        <p:spPr>
          <a:xfrm>
            <a:off x="6089760" y="3666600"/>
            <a:ext cx="2148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82742"/>
                </a:solidFill>
                <a:latin typeface="Aptos"/>
              </a:rPr>
              <a:t>Fund operations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28"/>
          <p:cNvSpPr/>
          <p:nvPr/>
        </p:nvSpPr>
        <p:spPr>
          <a:xfrm>
            <a:off x="6089760" y="4096440"/>
            <a:ext cx="213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30" spc="-1" strike="noStrike">
                <a:solidFill>
                  <a:srgbClr val="5d6c82"/>
                </a:solidFill>
                <a:latin typeface="Aptos"/>
              </a:rPr>
              <a:t>Hosting and maintenance need an approved owner and budget.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Rounded Rectangle 29"/>
          <p:cNvSpPr/>
          <p:nvPr/>
        </p:nvSpPr>
        <p:spPr>
          <a:xfrm>
            <a:off x="8558640" y="3493080"/>
            <a:ext cx="2614680" cy="1316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Rounded Rectangle 30"/>
          <p:cNvSpPr/>
          <p:nvPr/>
        </p:nvSpPr>
        <p:spPr>
          <a:xfrm>
            <a:off x="8558640" y="3493080"/>
            <a:ext cx="54360" cy="1316520"/>
          </a:xfrm>
          <a:prstGeom prst="roundRect">
            <a:avLst>
              <a:gd name="adj" fmla="val 12000"/>
            </a:avLst>
          </a:prstGeom>
          <a:solidFill>
            <a:srgbClr val="22b8d6"/>
          </a:solidFill>
          <a:ln>
            <a:solidFill>
              <a:srgbClr val="22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31"/>
          <p:cNvSpPr/>
          <p:nvPr/>
        </p:nvSpPr>
        <p:spPr>
          <a:xfrm>
            <a:off x="8759880" y="3666600"/>
            <a:ext cx="2248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82742"/>
                </a:solidFill>
                <a:latin typeface="Aptos"/>
              </a:rPr>
              <a:t>Expand in stages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32"/>
          <p:cNvSpPr/>
          <p:nvPr/>
        </p:nvSpPr>
        <p:spPr>
          <a:xfrm>
            <a:off x="8759880" y="4096440"/>
            <a:ext cx="22309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5d6c82"/>
                </a:solidFill>
                <a:latin typeface="Aptos"/>
              </a:rPr>
              <a:t>Add departments after their records are reviewed.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ounded Rectangle 33"/>
          <p:cNvSpPr/>
          <p:nvPr/>
        </p:nvSpPr>
        <p:spPr>
          <a:xfrm>
            <a:off x="713160" y="4937760"/>
            <a:ext cx="10442160" cy="639720"/>
          </a:xfrm>
          <a:prstGeom prst="roundRect">
            <a:avLst>
              <a:gd name="adj" fmla="val 12000"/>
            </a:avLst>
          </a:prstGeom>
          <a:solidFill>
            <a:srgbClr val="10234b"/>
          </a:solidFill>
          <a:ln>
            <a:solidFill>
              <a:srgbClr val="102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34"/>
          <p:cNvSpPr/>
          <p:nvPr/>
        </p:nvSpPr>
        <p:spPr>
          <a:xfrm>
            <a:off x="914400" y="5139000"/>
            <a:ext cx="10012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</a:rPr>
              <a:t>A real service needs an accountable content owner and a regular review cycle.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35"/>
          <p:cNvSpPr/>
          <p:nvPr/>
        </p:nvSpPr>
        <p:spPr>
          <a:xfrm>
            <a:off x="749880" y="57423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i="1" lang="en-US" sz="950" spc="-1" strike="noStrike">
                <a:solidFill>
                  <a:srgbClr val="5d6c82"/>
                </a:solidFill>
                <a:latin typeface="Aptos"/>
              </a:rPr>
              <a:t>This is a proposed pilot model; no government partnership or funding is claimed.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0" y="0"/>
            <a:ext cx="12191760" cy="109440"/>
          </a:xfrm>
          <a:prstGeom prst="rect">
            <a:avLst/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2"/>
          <p:cNvSpPr/>
          <p:nvPr/>
        </p:nvSpPr>
        <p:spPr>
          <a:xfrm>
            <a:off x="603360" y="34740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1769e0"/>
                </a:solidFill>
                <a:latin typeface="Aptos"/>
              </a:rPr>
              <a:t>06  /  ROLLOUT PLAN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3"/>
          <p:cNvSpPr/>
          <p:nvPr/>
        </p:nvSpPr>
        <p:spPr>
          <a:xfrm>
            <a:off x="603360" y="658440"/>
            <a:ext cx="10984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2700" spc="-1" strike="noStrike">
                <a:solidFill>
                  <a:srgbClr val="10234b"/>
                </a:solidFill>
                <a:latin typeface="Aptos"/>
              </a:rPr>
              <a:t>Start with Social Welfare. Expand after review.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4"/>
          <p:cNvSpPr/>
          <p:nvPr/>
        </p:nvSpPr>
        <p:spPr>
          <a:xfrm>
            <a:off x="567000" y="6546960"/>
            <a:ext cx="6400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8795a8"/>
                </a:solidFill>
                <a:latin typeface="Aptos"/>
              </a:rPr>
              <a:t>SEVAMANIPUR AI  ·  AI4SEVA 2026  ·  PROTOTYPE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5"/>
          <p:cNvSpPr/>
          <p:nvPr/>
        </p:nvSpPr>
        <p:spPr>
          <a:xfrm>
            <a:off x="11049120" y="6546960"/>
            <a:ext cx="5940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8795a8"/>
                </a:solidFill>
                <a:latin typeface="Aptos"/>
              </a:rPr>
              <a:t>06 / 06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6"/>
          <p:cNvSpPr/>
          <p:nvPr/>
        </p:nvSpPr>
        <p:spPr>
          <a:xfrm>
            <a:off x="685800" y="151776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900" spc="-1" strike="noStrike">
                <a:solidFill>
                  <a:srgbClr val="10234b"/>
                </a:solidFill>
                <a:latin typeface="Aptos"/>
              </a:rPr>
              <a:t>A focused entry point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7"/>
          <p:cNvSpPr/>
          <p:nvPr/>
        </p:nvSpPr>
        <p:spPr>
          <a:xfrm>
            <a:off x="685800" y="1938600"/>
            <a:ext cx="420588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5d6c82"/>
                </a:solidFill>
                <a:latin typeface="Aptos"/>
              </a:rPr>
              <a:t>Keep state and central schemes clear. Add departments only after checking their information.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ounded Rectangle 8"/>
          <p:cNvSpPr/>
          <p:nvPr/>
        </p:nvSpPr>
        <p:spPr>
          <a:xfrm>
            <a:off x="713160" y="2761560"/>
            <a:ext cx="1352880" cy="804240"/>
          </a:xfrm>
          <a:prstGeom prst="roundRect">
            <a:avLst>
              <a:gd name="adj" fmla="val 12000"/>
            </a:avLst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9"/>
          <p:cNvSpPr/>
          <p:nvPr/>
        </p:nvSpPr>
        <p:spPr>
          <a:xfrm>
            <a:off x="768240" y="2926080"/>
            <a:ext cx="1243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ALL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10"/>
          <p:cNvSpPr/>
          <p:nvPr/>
        </p:nvSpPr>
        <p:spPr>
          <a:xfrm>
            <a:off x="786240" y="3200400"/>
            <a:ext cx="1206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800" spc="-1" strike="noStrike">
                <a:solidFill>
                  <a:srgbClr val="e6f4ff"/>
                </a:solidFill>
                <a:latin typeface="Aptos"/>
              </a:rPr>
              <a:t>Browse full catalog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ounded Rectangle 11"/>
          <p:cNvSpPr/>
          <p:nvPr/>
        </p:nvSpPr>
        <p:spPr>
          <a:xfrm>
            <a:off x="2194560" y="2761560"/>
            <a:ext cx="1352880" cy="804240"/>
          </a:xfrm>
          <a:prstGeom prst="roundRect">
            <a:avLst>
              <a:gd name="adj" fmla="val 12000"/>
            </a:avLst>
          </a:prstGeom>
          <a:solidFill>
            <a:srgbClr val="22b8d6"/>
          </a:solidFill>
          <a:ln>
            <a:solidFill>
              <a:srgbClr val="22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12"/>
          <p:cNvSpPr/>
          <p:nvPr/>
        </p:nvSpPr>
        <p:spPr>
          <a:xfrm>
            <a:off x="2249280" y="2926080"/>
            <a:ext cx="1243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MANIPUR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13"/>
          <p:cNvSpPr/>
          <p:nvPr/>
        </p:nvSpPr>
        <p:spPr>
          <a:xfrm>
            <a:off x="2267640" y="3200400"/>
            <a:ext cx="1206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800" spc="-1" strike="noStrike">
                <a:solidFill>
                  <a:srgbClr val="e6f4ff"/>
                </a:solidFill>
                <a:latin typeface="Aptos"/>
              </a:rPr>
              <a:t>State schemes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Rounded Rectangle 14"/>
          <p:cNvSpPr/>
          <p:nvPr/>
        </p:nvSpPr>
        <p:spPr>
          <a:xfrm>
            <a:off x="3675960" y="2761560"/>
            <a:ext cx="1352880" cy="804240"/>
          </a:xfrm>
          <a:prstGeom prst="roundRect">
            <a:avLst>
              <a:gd name="adj" fmla="val 12000"/>
            </a:avLst>
          </a:prstGeom>
          <a:solidFill>
            <a:srgbClr val="10234b"/>
          </a:solidFill>
          <a:ln>
            <a:solidFill>
              <a:srgbClr val="102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15"/>
          <p:cNvSpPr/>
          <p:nvPr/>
        </p:nvSpPr>
        <p:spPr>
          <a:xfrm>
            <a:off x="3730680" y="2926080"/>
            <a:ext cx="1243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OTHER SCHEMES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16"/>
          <p:cNvSpPr/>
          <p:nvPr/>
        </p:nvSpPr>
        <p:spPr>
          <a:xfrm>
            <a:off x="3749040" y="3200400"/>
            <a:ext cx="1206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800" spc="-1" strike="noStrike">
                <a:solidFill>
                  <a:srgbClr val="e6f4ff"/>
                </a:solidFill>
                <a:latin typeface="Aptos"/>
              </a:rPr>
              <a:t>Central / other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17"/>
          <p:cNvSpPr/>
          <p:nvPr/>
        </p:nvSpPr>
        <p:spPr>
          <a:xfrm>
            <a:off x="731520" y="37947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769e0"/>
                </a:solidFill>
                <a:latin typeface="Aptos"/>
              </a:rPr>
              <a:t>+ Filter by department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18"/>
          <p:cNvSpPr/>
          <p:nvPr/>
        </p:nvSpPr>
        <p:spPr>
          <a:xfrm>
            <a:off x="5577840" y="15361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22b8d6"/>
                </a:solidFill>
                <a:latin typeface="Aptos"/>
              </a:rPr>
              <a:t>PILOT IN PHASES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ounded Rectangle 19"/>
          <p:cNvSpPr/>
          <p:nvPr/>
        </p:nvSpPr>
        <p:spPr>
          <a:xfrm>
            <a:off x="5541120" y="1865520"/>
            <a:ext cx="1828440" cy="1124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Rounded Rectangle 20"/>
          <p:cNvSpPr/>
          <p:nvPr/>
        </p:nvSpPr>
        <p:spPr>
          <a:xfrm>
            <a:off x="5541120" y="1865520"/>
            <a:ext cx="54360" cy="1124280"/>
          </a:xfrm>
          <a:prstGeom prst="roundRect">
            <a:avLst>
              <a:gd name="adj" fmla="val 12000"/>
            </a:avLst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21"/>
          <p:cNvSpPr/>
          <p:nvPr/>
        </p:nvSpPr>
        <p:spPr>
          <a:xfrm>
            <a:off x="5742360" y="203904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82742"/>
                </a:solidFill>
                <a:latin typeface="Aptos"/>
              </a:rPr>
              <a:t>01  Verify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22"/>
          <p:cNvSpPr/>
          <p:nvPr/>
        </p:nvSpPr>
        <p:spPr>
          <a:xfrm>
            <a:off x="5742360" y="2468880"/>
            <a:ext cx="144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5d6c82"/>
                </a:solidFill>
                <a:latin typeface="Aptos"/>
              </a:rPr>
              <a:t>Social Welfare sources + rules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ounded Rectangle 23"/>
          <p:cNvSpPr/>
          <p:nvPr/>
        </p:nvSpPr>
        <p:spPr>
          <a:xfrm>
            <a:off x="7479720" y="1865520"/>
            <a:ext cx="1828440" cy="1124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Rounded Rectangle 24"/>
          <p:cNvSpPr/>
          <p:nvPr/>
        </p:nvSpPr>
        <p:spPr>
          <a:xfrm>
            <a:off x="7479720" y="1865520"/>
            <a:ext cx="54360" cy="1124280"/>
          </a:xfrm>
          <a:prstGeom prst="roundRect">
            <a:avLst>
              <a:gd name="adj" fmla="val 12000"/>
            </a:avLst>
          </a:prstGeom>
          <a:solidFill>
            <a:srgbClr val="22b8d6"/>
          </a:solidFill>
          <a:ln>
            <a:solidFill>
              <a:srgbClr val="22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TextBox 25"/>
          <p:cNvSpPr/>
          <p:nvPr/>
        </p:nvSpPr>
        <p:spPr>
          <a:xfrm>
            <a:off x="7680960" y="203904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82742"/>
                </a:solidFill>
                <a:latin typeface="Aptos"/>
              </a:rPr>
              <a:t>02  Pilot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26"/>
          <p:cNvSpPr/>
          <p:nvPr/>
        </p:nvSpPr>
        <p:spPr>
          <a:xfrm>
            <a:off x="7680960" y="2468880"/>
            <a:ext cx="144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5d6c82"/>
                </a:solidFill>
                <a:latin typeface="Aptos"/>
              </a:rPr>
              <a:t>Test with citizens and staff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ounded Rectangle 27"/>
          <p:cNvSpPr/>
          <p:nvPr/>
        </p:nvSpPr>
        <p:spPr>
          <a:xfrm>
            <a:off x="9418320" y="1865520"/>
            <a:ext cx="1828440" cy="1124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Rounded Rectangle 28"/>
          <p:cNvSpPr/>
          <p:nvPr/>
        </p:nvSpPr>
        <p:spPr>
          <a:xfrm>
            <a:off x="9418320" y="1865520"/>
            <a:ext cx="54360" cy="1124280"/>
          </a:xfrm>
          <a:prstGeom prst="roundRect">
            <a:avLst>
              <a:gd name="adj" fmla="val 12000"/>
            </a:avLst>
          </a:prstGeom>
          <a:solidFill>
            <a:srgbClr val="10234b"/>
          </a:solidFill>
          <a:ln>
            <a:solidFill>
              <a:srgbClr val="102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29"/>
          <p:cNvSpPr/>
          <p:nvPr/>
        </p:nvSpPr>
        <p:spPr>
          <a:xfrm>
            <a:off x="9619560" y="203904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82742"/>
                </a:solidFill>
                <a:latin typeface="Aptos"/>
              </a:rPr>
              <a:t>03  Expand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30"/>
          <p:cNvSpPr/>
          <p:nvPr/>
        </p:nvSpPr>
        <p:spPr>
          <a:xfrm>
            <a:off x="9619560" y="2468880"/>
            <a:ext cx="144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5d6c82"/>
                </a:solidFill>
                <a:latin typeface="Aptos"/>
              </a:rPr>
              <a:t>Add reviewed departments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31"/>
          <p:cNvSpPr/>
          <p:nvPr/>
        </p:nvSpPr>
        <p:spPr>
          <a:xfrm>
            <a:off x="5577840" y="34016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10234b"/>
                </a:solidFill>
                <a:latin typeface="Aptos"/>
              </a:rPr>
              <a:t>Built for careful growth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32"/>
          <p:cNvSpPr/>
          <p:nvPr/>
        </p:nvSpPr>
        <p:spPr>
          <a:xfrm>
            <a:off x="5596200" y="3803760"/>
            <a:ext cx="555912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r>
              <a:rPr b="0" lang="en-US" sz="1200" spc="-1" strike="noStrike">
                <a:solidFill>
                  <a:srgbClr val="5d6c82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5d6c82"/>
                </a:solidFill>
                <a:latin typeface="Aptos"/>
              </a:rPr>
              <a:t>One catalog with sources and review dates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5d6c82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5d6c82"/>
                </a:solidFill>
                <a:latin typeface="Aptos"/>
              </a:rPr>
              <a:t>Simple matching rules, separate from AI explanations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5d6c82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5d6c82"/>
                </a:solidFill>
                <a:latin typeface="Aptos"/>
              </a:rPr>
              <a:t>Vercel app with Supabase catalog and user 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ounded Rectangle 33"/>
          <p:cNvSpPr/>
          <p:nvPr/>
        </p:nvSpPr>
        <p:spPr>
          <a:xfrm>
            <a:off x="713160" y="4736520"/>
            <a:ext cx="4352040" cy="849960"/>
          </a:xfrm>
          <a:prstGeom prst="roundRect">
            <a:avLst>
              <a:gd name="adj" fmla="val 12000"/>
            </a:avLst>
          </a:prstGeom>
          <a:solidFill>
            <a:srgbClr val="eaf5f7"/>
          </a:solidFill>
          <a:ln>
            <a:solidFill>
              <a:srgbClr val="d4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34"/>
          <p:cNvSpPr/>
          <p:nvPr/>
        </p:nvSpPr>
        <p:spPr>
          <a:xfrm>
            <a:off x="914400" y="4901040"/>
            <a:ext cx="1371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1769e0"/>
                </a:solidFill>
                <a:latin typeface="Aptos"/>
              </a:rPr>
              <a:t>FIRST DATA DROP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35"/>
          <p:cNvSpPr/>
          <p:nvPr/>
        </p:nvSpPr>
        <p:spPr>
          <a:xfrm>
            <a:off x="914400" y="5129640"/>
            <a:ext cx="3904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70" spc="-1" strike="noStrike">
                <a:solidFill>
                  <a:srgbClr val="10234b"/>
                </a:solidFill>
                <a:latin typeface="Aptos"/>
              </a:rPr>
              <a:t>7 Social Welfare records link to official sources; current rules and application status need department confirmation.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36"/>
          <p:cNvSpPr/>
          <p:nvPr/>
        </p:nvSpPr>
        <p:spPr>
          <a:xfrm>
            <a:off x="5596200" y="5486400"/>
            <a:ext cx="5531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1000" spc="-1" strike="noStrike">
                <a:solidFill>
                  <a:srgbClr val="10234b"/>
                </a:solidFill>
                <a:latin typeface="Aptos"/>
              </a:rPr>
              <a:t>SevaManipur AI is a prototype developed for AI4SEVA 2026; not an official government service.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LibreOffice/24.2.7.2$Linux_X86_64 LibreOffice_project/420$Build-2</Application>
  <AppVersion>15.0000</AppVersion>
  <Words>108</Words>
  <Paragraphs>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2026-09-21T09:38:46Z</dcterms:created>
  <dc:creator>SevaManipur AI Hackathon Team</dc:creator>
  <dc:description/>
  <cp:keywords>AI4SEVA Manipur Social Welfare SW-01</cp:keywords>
  <dc:language>en-US</dc:language>
  <cp:lastModifiedBy/>
  <dcterms:modified xsi:type="dcterms:W3CDTF">2026-10-09T10:36:40Z</dcterms:modified>
  <cp:revision>6</cp:revision>
  <dc:subject>AI-based Welfare Scheme Eligibility &amp; Assistance Navigator</dc:subject>
  <dc:title>SevaManipur AI — SW-01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6</vt:i4>
  </property>
</Properties>
</file>