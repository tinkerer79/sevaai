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60" r:id="rId4"/>
    <p:sldId id="267" r:id="rId5"/>
    <p:sldId id="261" r:id="rId6"/>
    <p:sldId id="258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235C90D-E936-4466-8272-B54C76ADCD3C}" v="8" dt="2026-10-08T06:33:37.90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3" d="100"/>
          <a:sy n="103" d="100"/>
        </p:scale>
        <p:origin x="876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Relationship Id="rId12" Type="http://schemas.microsoft.com/office/2016/11/relationships/changesInfo" Target="changesInfos/changesInfo1.xml"/><Relationship Id="rId13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tihub 03" userId="b2a0e37053ecd74e" providerId="LiveId" clId="{E0B2F529-6E3C-4053-911F-F043B18F24F2}"/>
    <pc:docChg chg="addSld delSld modSld">
      <pc:chgData name="mtihub 03" userId="b2a0e37053ecd74e" providerId="LiveId" clId="{E0B2F529-6E3C-4053-911F-F043B18F24F2}" dt="2026-10-08T06:33:37.909" v="110"/>
      <pc:docMkLst>
        <pc:docMk/>
      </pc:docMkLst>
      <pc:sldChg chg="modSp new mod">
        <pc:chgData name="mtihub 03" userId="b2a0e37053ecd74e" providerId="LiveId" clId="{E0B2F529-6E3C-4053-911F-F043B18F24F2}" dt="2026-09-21T09:45:12.473" v="101" actId="108"/>
        <pc:sldMkLst>
          <pc:docMk/>
          <pc:sldMk cId="2727883511" sldId="256"/>
        </pc:sldMkLst>
        <pc:spChg chg="mod">
          <ac:chgData name="mtihub 03" userId="b2a0e37053ecd74e" providerId="LiveId" clId="{E0B2F529-6E3C-4053-911F-F043B18F24F2}" dt="2026-09-21T09:45:05.640" v="100" actId="108"/>
          <ac:spMkLst>
            <pc:docMk/>
            <pc:sldMk cId="2727883511" sldId="256"/>
            <ac:spMk id="2" creationId="{26D08D52-5901-77A2-8685-E1A2338BFAE0}"/>
          </ac:spMkLst>
        </pc:spChg>
        <pc:spChg chg="mod">
          <ac:chgData name="mtihub 03" userId="b2a0e37053ecd74e" providerId="LiveId" clId="{E0B2F529-6E3C-4053-911F-F043B18F24F2}" dt="2026-09-21T09:45:12.473" v="101" actId="108"/>
          <ac:spMkLst>
            <pc:docMk/>
            <pc:sldMk cId="2727883511" sldId="256"/>
            <ac:spMk id="3" creationId="{7FF827F7-6CE2-1D98-54F4-7E04D97BB9EC}"/>
          </ac:spMkLst>
        </pc:spChg>
      </pc:sldChg>
      <pc:sldChg chg="modSp new mod">
        <pc:chgData name="mtihub 03" userId="b2a0e37053ecd74e" providerId="LiveId" clId="{E0B2F529-6E3C-4053-911F-F043B18F24F2}" dt="2026-10-08T06:32:27.598" v="103"/>
        <pc:sldMkLst>
          <pc:docMk/>
          <pc:sldMk cId="4037555289" sldId="257"/>
        </pc:sldMkLst>
        <pc:spChg chg="mod">
          <ac:chgData name="mtihub 03" userId="b2a0e37053ecd74e" providerId="LiveId" clId="{E0B2F529-6E3C-4053-911F-F043B18F24F2}" dt="2026-10-08T06:32:11.586" v="102"/>
          <ac:spMkLst>
            <pc:docMk/>
            <pc:sldMk cId="4037555289" sldId="257"/>
            <ac:spMk id="2" creationId="{9A7CFC8B-2019-DDA6-4935-5E297CDF38BD}"/>
          </ac:spMkLst>
        </pc:spChg>
        <pc:spChg chg="mod">
          <ac:chgData name="mtihub 03" userId="b2a0e37053ecd74e" providerId="LiveId" clId="{E0B2F529-6E3C-4053-911F-F043B18F24F2}" dt="2026-10-08T06:32:27.598" v="103"/>
          <ac:spMkLst>
            <pc:docMk/>
            <pc:sldMk cId="4037555289" sldId="257"/>
            <ac:spMk id="3" creationId="{D1D16EB4-AE9D-9544-345B-0E42EFF1C4BD}"/>
          </ac:spMkLst>
        </pc:spChg>
      </pc:sldChg>
      <pc:sldChg chg="modSp new">
        <pc:chgData name="mtihub 03" userId="b2a0e37053ecd74e" providerId="LiveId" clId="{E0B2F529-6E3C-4053-911F-F043B18F24F2}" dt="2026-10-08T06:32:47.538" v="105"/>
        <pc:sldMkLst>
          <pc:docMk/>
          <pc:sldMk cId="2001526492" sldId="258"/>
        </pc:sldMkLst>
        <pc:spChg chg="mod">
          <ac:chgData name="mtihub 03" userId="b2a0e37053ecd74e" providerId="LiveId" clId="{E0B2F529-6E3C-4053-911F-F043B18F24F2}" dt="2026-10-08T06:32:37.749" v="104"/>
          <ac:spMkLst>
            <pc:docMk/>
            <pc:sldMk cId="2001526492" sldId="258"/>
            <ac:spMk id="2" creationId="{19805C93-41B5-C754-81DB-EE8531563F52}"/>
          </ac:spMkLst>
        </pc:spChg>
        <pc:spChg chg="mod">
          <ac:chgData name="mtihub 03" userId="b2a0e37053ecd74e" providerId="LiveId" clId="{E0B2F529-6E3C-4053-911F-F043B18F24F2}" dt="2026-10-08T06:32:47.538" v="105"/>
          <ac:spMkLst>
            <pc:docMk/>
            <pc:sldMk cId="2001526492" sldId="258"/>
            <ac:spMk id="3" creationId="{16919D3D-A049-B84E-67AC-AB57DA70FA5A}"/>
          </ac:spMkLst>
        </pc:spChg>
      </pc:sldChg>
      <pc:sldChg chg="modSp new">
        <pc:chgData name="mtihub 03" userId="b2a0e37053ecd74e" providerId="LiveId" clId="{E0B2F529-6E3C-4053-911F-F043B18F24F2}" dt="2026-10-08T06:33:12.799" v="107"/>
        <pc:sldMkLst>
          <pc:docMk/>
          <pc:sldMk cId="1038637909" sldId="259"/>
        </pc:sldMkLst>
        <pc:spChg chg="mod">
          <ac:chgData name="mtihub 03" userId="b2a0e37053ecd74e" providerId="LiveId" clId="{E0B2F529-6E3C-4053-911F-F043B18F24F2}" dt="2026-10-08T06:33:02.859" v="106"/>
          <ac:spMkLst>
            <pc:docMk/>
            <pc:sldMk cId="1038637909" sldId="259"/>
            <ac:spMk id="2" creationId="{BDCFBAE4-0E08-D233-F60D-E3B0C084E919}"/>
          </ac:spMkLst>
        </pc:spChg>
        <pc:spChg chg="mod">
          <ac:chgData name="mtihub 03" userId="b2a0e37053ecd74e" providerId="LiveId" clId="{E0B2F529-6E3C-4053-911F-F043B18F24F2}" dt="2026-10-08T06:33:12.799" v="107"/>
          <ac:spMkLst>
            <pc:docMk/>
            <pc:sldMk cId="1038637909" sldId="259"/>
            <ac:spMk id="3" creationId="{22D7BEFE-A24B-7950-82BF-7B506A5F3535}"/>
          </ac:spMkLst>
        </pc:spChg>
      </pc:sldChg>
      <pc:sldChg chg="modSp add">
        <pc:chgData name="mtihub 03" userId="b2a0e37053ecd74e" providerId="LiveId" clId="{E0B2F529-6E3C-4053-911F-F043B18F24F2}" dt="2026-10-08T06:33:37.909" v="110"/>
        <pc:sldMkLst>
          <pc:docMk/>
          <pc:sldMk cId="3918365554" sldId="260"/>
        </pc:sldMkLst>
        <pc:spChg chg="mod">
          <ac:chgData name="mtihub 03" userId="b2a0e37053ecd74e" providerId="LiveId" clId="{E0B2F529-6E3C-4053-911F-F043B18F24F2}" dt="2026-10-08T06:33:28.578" v="109"/>
          <ac:spMkLst>
            <pc:docMk/>
            <pc:sldMk cId="3918365554" sldId="260"/>
            <ac:spMk id="2" creationId="{95A2CC89-41F8-C644-F6C2-A110AE2793C8}"/>
          </ac:spMkLst>
        </pc:spChg>
        <pc:spChg chg="mod">
          <ac:chgData name="mtihub 03" userId="b2a0e37053ecd74e" providerId="LiveId" clId="{E0B2F529-6E3C-4053-911F-F043B18F24F2}" dt="2026-10-08T06:33:37.909" v="110"/>
          <ac:spMkLst>
            <pc:docMk/>
            <pc:sldMk cId="3918365554" sldId="260"/>
            <ac:spMk id="3" creationId="{870111ED-C5BD-1DAD-AA9C-11FB47736A30}"/>
          </ac:spMkLst>
        </pc:spChg>
      </pc:sldChg>
    </pc:docChg>
  </pc:docChgLst>
</pc:chgInfo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048EFE-1D3F-F84D-F089-95B314F05E3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668E8BA-8BCD-678B-92FF-18E49689CEE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90FD65E-BAD4-E8E4-A35D-15AACE70F6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BE98A5-0DB8-40EF-9273-1C52098616B9}" type="datetimeFigureOut">
              <a:rPr lang="en-IN" smtClean="0"/>
              <a:t>08-10-2026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C6E43CE-D765-6B4E-22C4-29D667368E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85DA7F-D889-8528-F948-EB040E98B4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79790C-3A4A-468A-92D2-42C783BEF0C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807219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4AD4B6-8044-9AC8-8C1C-DA81F192DA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07958E-FF68-2C8A-8356-5883C50C68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3E8A5C-B29A-4947-F1C6-6842898BE1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BE98A5-0DB8-40EF-9273-1C52098616B9}" type="datetimeFigureOut">
              <a:rPr lang="en-IN" smtClean="0"/>
              <a:t>08-10-2026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CE87AC1-D186-A983-5BBE-40EBAA3DA4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6287B7B-E486-5AB2-08E5-5F0C4A19E5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79790C-3A4A-468A-92D2-42C783BEF0C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96329461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074A9D-8AC4-F323-5809-8E3C89D8FA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115A2E5-9BC4-3F26-C2B4-3CA330218BA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29851F6-E7CE-B7EE-A273-9B0D7B9E9F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BE98A5-0DB8-40EF-9273-1C52098616B9}" type="datetimeFigureOut">
              <a:rPr lang="en-IN" smtClean="0"/>
              <a:t>08-10-2026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FE8A169-11F8-C09E-0703-6BB1DA02E2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EDD133B-BAC7-FEBE-F059-ADF26B506E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79790C-3A4A-468A-92D2-42C783BEF0C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90264592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7059AF-9C0B-1FF5-0AA1-39532478E2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4268A0-FF88-4247-DD68-14FE82922A2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E40A187-610E-0D9D-303A-0DD5A6C2D7F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A48010F-C6BA-2B4E-4534-BD051D164B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BE98A5-0DB8-40EF-9273-1C52098616B9}" type="datetimeFigureOut">
              <a:rPr lang="en-IN" smtClean="0"/>
              <a:t>08-10-2026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5F6BB85-E018-8F76-E575-98AFD1B07D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5690210-ACE2-71F9-53AE-627FC37FCC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79790C-3A4A-468A-92D2-42C783BEF0C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18523426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766619-54E3-2BB4-544C-765827681B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EE56E69-DEE4-C0E6-FF94-DDCA174C65E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542BDA1-94B5-F6E9-C9BF-8760450FE8C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0522BF8-5FBC-4307-6859-FCF53D8B8A1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52A891D-5E01-2C19-79A0-8F9F3578A86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D071E85-369F-D87F-E281-4986E29476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BE98A5-0DB8-40EF-9273-1C52098616B9}" type="datetimeFigureOut">
              <a:rPr lang="en-IN" smtClean="0"/>
              <a:t>08-10-2026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57263BD-8FA4-1D42-4669-78A6CBC1BF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C4FE968-38B0-BC48-47B9-0A03E8778A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79790C-3A4A-468A-92D2-42C783BEF0C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94138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9577CF-8EAC-E992-D9C5-24319AAFD0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FB36364-F9A0-5D76-09D1-3CC0C6D70B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BE98A5-0DB8-40EF-9273-1C52098616B9}" type="datetimeFigureOut">
              <a:rPr lang="en-IN" smtClean="0"/>
              <a:t>08-10-2026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70FC85A-8C60-3262-6893-8ECD14EF32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F1E5900-FCA0-0987-A495-0CDD35AF07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79790C-3A4A-468A-92D2-42C783BEF0C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4041820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C7E7E93-4BB8-D79D-550B-94F722CA9F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BE98A5-0DB8-40EF-9273-1C52098616B9}" type="datetimeFigureOut">
              <a:rPr lang="en-IN" smtClean="0"/>
              <a:t>08-10-2026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D8266AE-4CD5-2D46-996E-0EA399CC2E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DFD58E2-9FD6-A1D4-5674-11FBE28D6D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79790C-3A4A-468A-92D2-42C783BEF0C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2279557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2BD559-1D68-1121-EF23-59B40C42CB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C86FB1-221F-5356-D664-BB7E79D4D1D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6CE0EB3-E570-8D65-FFC5-3312BC041A5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C2B3E01-663C-E78F-4E55-E3AFE2405A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BE98A5-0DB8-40EF-9273-1C52098616B9}" type="datetimeFigureOut">
              <a:rPr lang="en-IN" smtClean="0"/>
              <a:t>08-10-2026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5388E72-7746-CF4E-3C97-D35549099F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9C374EA-0291-95C3-90BF-971EFCD5B5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79790C-3A4A-468A-92D2-42C783BEF0C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9407382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C5B9DC-5E04-C391-99A1-98A108103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CC48B0B-EB9A-17F5-71D3-C2401F4C637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A9D1E44-3E99-1356-4BD1-F73278DD7EA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AC9A706-3CE3-1C68-1BB2-23D0BA97ED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BE98A5-0DB8-40EF-9273-1C52098616B9}" type="datetimeFigureOut">
              <a:rPr lang="en-IN" smtClean="0"/>
              <a:t>08-10-2026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A50CAF-7001-7720-B730-97E94E0194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B58D17D-B872-648A-4A8A-37B0F20AEB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79790C-3A4A-468A-92D2-42C783BEF0C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4344540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96BC78-6534-2C38-F710-F7EAB048E3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0A04703-8F4F-6D3E-F383-C00C7945CB6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F7D6DBC-8949-A0B5-0E42-5809CD0406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BE98A5-0DB8-40EF-9273-1C52098616B9}" type="datetimeFigureOut">
              <a:rPr lang="en-IN" smtClean="0"/>
              <a:t>08-10-2026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075D4C4-9441-3A23-AE6D-3A58B46D68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3C0533A-EBFB-D24F-2954-D64AC874A9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79790C-3A4A-468A-92D2-42C783BEF0C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2154174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04172DA-5B35-E19F-BFCA-FB8BC465317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FC88C5A-AD80-376A-6BD7-916ABE9FF9A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325AE4E-FEDC-79C7-5426-8021E87E79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BE98A5-0DB8-40EF-9273-1C52098616B9}" type="datetimeFigureOut">
              <a:rPr lang="en-IN" smtClean="0"/>
              <a:t>08-10-2026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221611C-8830-7EF4-10FA-19BC9404C7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7E4C4CC-EDBC-F792-DBA4-AB1AF34268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79790C-3A4A-468A-92D2-42C783BEF0C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9880298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FCC487C-AE3E-2939-4220-0A0E9784B3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F9D3E1B-9E5E-8BFF-041F-720D5DC71B1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16C171C-2397-2A42-5976-92BFD46417F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3BE98A5-0DB8-40EF-9273-1C52098616B9}" type="datetimeFigureOut">
              <a:rPr lang="en-IN" smtClean="0"/>
              <a:t>08-10-2026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E5CA24A-AEA5-3362-FD79-CC85370E95C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3D237A6-EF3C-9806-150A-51E19564053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779790C-3A4A-468A-92D2-42C783BEF0C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792063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234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22B8D6"/>
          </a:solidFill>
          <a:ln>
            <a:solidFill>
              <a:srgbClr val="22B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30352"/>
            <a:ext cx="6126480" cy="20116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Aft>
                <a:spcPts val="0"/>
              </a:spcAft>
            </a:pPr>
            <a:r>
              <a:rPr sz="900" b="1" i="0">
                <a:solidFill>
                  <a:srgbClr val="7CE0C3"/>
                </a:solidFill>
                <a:latin typeface="Aptos"/>
              </a:rPr>
              <a:t>AI4SEVA 2026  ·  SOCIAL WELFARE  ·  SW-01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060704"/>
            <a:ext cx="5760720" cy="148132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Aptos"/>
              </a:rPr>
              <a:t>Know the support
you may qualify for.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761488"/>
            <a:ext cx="5303520" cy="50292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Aft>
                <a:spcPts val="0"/>
              </a:spcAft>
            </a:pPr>
            <a:r>
              <a:rPr sz="2400" b="1" i="0">
                <a:solidFill>
                  <a:srgbClr val="7CE0C3"/>
                </a:solidFill>
                <a:latin typeface="Aptos"/>
              </a:rPr>
              <a:t>SevaManipur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310128"/>
            <a:ext cx="5394960" cy="6858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Aft>
                <a:spcPts val="0"/>
              </a:spcAft>
            </a:pPr>
            <a:r>
              <a:rPr sz="1700" b="0" i="0">
                <a:solidFill>
                  <a:srgbClr val="E0EAF8"/>
                </a:solidFill>
                <a:latin typeface="Aptos"/>
              </a:rPr>
              <a:t>AI-based Welfare Scheme Eligibility &amp; Assistance Navigator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4178808"/>
            <a:ext cx="5120640" cy="65836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B8C9E3"/>
                </a:solidFill>
                <a:latin typeface="Aptos"/>
              </a:rPr>
              <a:t>Understand possible eligibility, required documents and next steps — in simple language.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5257800"/>
            <a:ext cx="2633472" cy="694944"/>
          </a:xfrm>
          <a:prstGeom prst="roundRect">
            <a:avLst>
              <a:gd name="adj" fmla="val 12000"/>
            </a:avLst>
          </a:prstGeom>
          <a:solidFill>
            <a:srgbClr val="1A315D"/>
          </a:solidFill>
          <a:ln>
            <a:solidFill>
              <a:srgbClr val="4965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5404104"/>
            <a:ext cx="2286000" cy="18288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Aft>
                <a:spcPts val="0"/>
              </a:spcAft>
            </a:pPr>
            <a:r>
              <a:rPr sz="900" b="1" i="0">
                <a:solidFill>
                  <a:srgbClr val="D7E5F7"/>
                </a:solidFill>
                <a:latin typeface="Aptos"/>
              </a:rPr>
              <a:t>TEAM NUMBER  [ADD]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7824" y="5632704"/>
            <a:ext cx="2286000" cy="18288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ptos"/>
              </a:rPr>
              <a:t>TEAM NAME  [ADD]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4944" y="6181344"/>
            <a:ext cx="2286000" cy="18288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Aft>
                <a:spcPts val="0"/>
              </a:spcAft>
            </a:pPr>
            <a:r>
              <a:rPr sz="800" b="1" i="0">
                <a:solidFill>
                  <a:srgbClr val="AFC1DD"/>
                </a:solidFill>
                <a:latin typeface="Aptos"/>
              </a:rPr>
              <a:t>9 OCTOBER 2026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903720" y="932688"/>
            <a:ext cx="4663440" cy="289864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536B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t1_home_he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67728" y="996696"/>
            <a:ext cx="4535424" cy="255117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059168" y="3593592"/>
            <a:ext cx="4343400" cy="18288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Aft>
                <a:spcPts val="0"/>
              </a:spcAft>
            </a:pPr>
            <a:r>
              <a:rPr sz="900" b="1" i="0">
                <a:solidFill>
                  <a:srgbClr val="5D6C82"/>
                </a:solidFill>
                <a:latin typeface="Aptos"/>
              </a:rPr>
              <a:t>Citizen gateway web app prototype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095744" y="4251960"/>
            <a:ext cx="3840480" cy="658368"/>
          </a:xfrm>
          <a:prstGeom prst="roundRect">
            <a:avLst>
              <a:gd name="adj" fmla="val 12000"/>
            </a:avLst>
          </a:prstGeom>
          <a:solidFill>
            <a:srgbClr val="1A315D"/>
          </a:solidFill>
          <a:ln>
            <a:solidFill>
              <a:srgbClr val="3859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69480" y="4471416"/>
            <a:ext cx="3520440" cy="18288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Aft>
                <a:spcPts val="0"/>
              </a:spcAft>
            </a:pPr>
            <a:r>
              <a:rPr sz="1100" b="1" i="0">
                <a:solidFill>
                  <a:srgbClr val="7CE0C3"/>
                </a:solidFill>
                <a:latin typeface="Aptos"/>
              </a:rPr>
              <a:t>PROFILE  →  MATCH  →  GUIDANCE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59168" y="5175504"/>
            <a:ext cx="4251960" cy="51206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BACAE2"/>
                </a:solidFill>
                <a:latin typeface="Aptos"/>
              </a:rPr>
              <a:t>Prototype developed for the AI4SEVA Hackathon. Not an official Government of Manipur website.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6547104"/>
            <a:ext cx="6400800" cy="15544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Aft>
                <a:spcPts val="0"/>
              </a:spcAft>
            </a:pPr>
            <a:r>
              <a:rPr sz="800" b="1" i="0">
                <a:solidFill>
                  <a:srgbClr val="B8C9E3"/>
                </a:solidFill>
                <a:latin typeface="Aptos"/>
              </a:rPr>
              <a:t>SEVAMANIPUR AI  ·  AI4SEVA 2026  ·  PROTOTYPE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049000" y="6547104"/>
            <a:ext cx="594360" cy="15544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Aft>
                <a:spcPts val="0"/>
              </a:spcAft>
            </a:pPr>
            <a:r>
              <a:rPr sz="800" b="1" i="0">
                <a:solidFill>
                  <a:srgbClr val="B8C9E3"/>
                </a:solidFill>
                <a:latin typeface="Aptos"/>
              </a:rPr>
              <a:t>01 / 06</a:t>
            </a:r>
          </a:p>
        </p:txBody>
      </p:sp>
    </p:spTree>
    <p:extLst>
      <p:ext uri="{BB962C8B-B14F-4D97-AF65-F5344CB8AC3E}">
        <p14:creationId xmlns:p14="http://schemas.microsoft.com/office/powerpoint/2010/main" val="272788351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109728"/>
          </a:xfrm>
          <a:prstGeom prst="rect">
            <a:avLst/>
          </a:prstGeom>
          <a:solidFill>
            <a:srgbClr val="1769E0"/>
          </a:solidFill>
          <a:ln>
            <a:solidFill>
              <a:srgbClr val="1769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347472"/>
            <a:ext cx="6400800" cy="20116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Aft>
                <a:spcPts val="0"/>
              </a:spcAft>
            </a:pPr>
            <a:r>
              <a:rPr sz="900" b="1" i="0">
                <a:solidFill>
                  <a:srgbClr val="1769E0"/>
                </a:solidFill>
                <a:latin typeface="Aptos"/>
              </a:rPr>
              <a:t>02  /  PROBLEM STATEMENT &amp;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3504" y="658368"/>
            <a:ext cx="10984992" cy="58521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Aft>
                <a:spcPts val="0"/>
              </a:spcAft>
            </a:pPr>
            <a:r>
              <a:rPr sz="2700" b="1" i="0">
                <a:solidFill>
                  <a:srgbClr val="10234B"/>
                </a:solidFill>
                <a:latin typeface="Aptos"/>
              </a:rPr>
              <a:t>From scheme confusion to a clear next step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547104"/>
            <a:ext cx="6400800" cy="15544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Aft>
                <a:spcPts val="0"/>
              </a:spcAft>
            </a:pPr>
            <a:r>
              <a:rPr sz="800" b="1" i="0">
                <a:solidFill>
                  <a:srgbClr val="8795A8"/>
                </a:solidFill>
                <a:latin typeface="Aptos"/>
              </a:rPr>
              <a:t>SEVAMANIPUR AI  ·  AI4SEVA 2026  ·  PROTOTYPE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49000" y="6547104"/>
            <a:ext cx="594360" cy="15544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Aft>
                <a:spcPts val="0"/>
              </a:spcAft>
            </a:pPr>
            <a:r>
              <a:rPr sz="800" b="1" i="0">
                <a:solidFill>
                  <a:srgbClr val="8795A8"/>
                </a:solidFill>
                <a:latin typeface="Aptos"/>
              </a:rPr>
              <a:t>02 / 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508760"/>
            <a:ext cx="3657600" cy="21945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Aft>
                <a:spcPts val="0"/>
              </a:spcAft>
            </a:pPr>
            <a:r>
              <a:rPr sz="1000" b="1" i="0">
                <a:solidFill>
                  <a:srgbClr val="5D6C82"/>
                </a:solidFill>
                <a:latin typeface="Aptos"/>
              </a:rPr>
              <a:t>THE CITIZEN PROBLEM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828800"/>
            <a:ext cx="3401568" cy="138988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DCE5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40080" y="1828800"/>
            <a:ext cx="54864" cy="1389888"/>
          </a:xfrm>
          <a:prstGeom prst="roundRect">
            <a:avLst>
              <a:gd name="adj" fmla="val 12000"/>
            </a:avLst>
          </a:prstGeom>
          <a:solidFill>
            <a:srgbClr val="1769E0"/>
          </a:solidFill>
          <a:ln>
            <a:solidFill>
              <a:srgbClr val="1769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7" y="2002536"/>
            <a:ext cx="3035808" cy="32918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82742"/>
                </a:solidFill>
                <a:latin typeface="Aptos"/>
              </a:rPr>
              <a:t>“Which schemes fit me?”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7" y="2432304"/>
            <a:ext cx="3017520" cy="67665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5D6C82"/>
                </a:solidFill>
                <a:latin typeface="Aptos"/>
              </a:rPr>
              <a:t>Eligibility rules can be difficult to find and compare.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169663" y="1828800"/>
            <a:ext cx="3401568" cy="138988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DCE5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169663" y="1828800"/>
            <a:ext cx="54864" cy="1389888"/>
          </a:xfrm>
          <a:prstGeom prst="roundRect">
            <a:avLst>
              <a:gd name="adj" fmla="val 12000"/>
            </a:avLst>
          </a:prstGeom>
          <a:solidFill>
            <a:srgbClr val="22B8D6"/>
          </a:solidFill>
          <a:ln>
            <a:solidFill>
              <a:srgbClr val="22B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70831" y="2002536"/>
            <a:ext cx="3035808" cy="32918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82742"/>
                </a:solidFill>
                <a:latin typeface="Aptos"/>
              </a:rPr>
              <a:t>“What should I bring?”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70831" y="2432304"/>
            <a:ext cx="3017520" cy="67665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5D6C82"/>
                </a:solidFill>
                <a:latin typeface="Aptos"/>
              </a:rPr>
              <a:t>Documents, offices and application steps are spread across sources.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699248" y="1828800"/>
            <a:ext cx="3566160" cy="138988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DCE5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699248" y="1828800"/>
            <a:ext cx="54864" cy="1389888"/>
          </a:xfrm>
          <a:prstGeom prst="roundRect">
            <a:avLst>
              <a:gd name="adj" fmla="val 12000"/>
            </a:avLst>
          </a:prstGeom>
          <a:solidFill>
            <a:srgbClr val="FFC45B"/>
          </a:solidFill>
          <a:ln>
            <a:solidFill>
              <a:srgbClr val="FFC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900416" y="2002536"/>
            <a:ext cx="3200400" cy="32918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82742"/>
                </a:solidFill>
                <a:latin typeface="Aptos"/>
              </a:rPr>
              <a:t>“Am I approved?”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00416" y="2432304"/>
            <a:ext cx="3182112" cy="67665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5D6C82"/>
                </a:solidFill>
                <a:latin typeface="Aptos"/>
              </a:rPr>
              <a:t>Citizens need guidance without mistaking it for an official decision.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3584448"/>
            <a:ext cx="2743200" cy="21945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Aft>
                <a:spcPts val="0"/>
              </a:spcAft>
            </a:pPr>
            <a:r>
              <a:rPr sz="1000" b="1" i="0">
                <a:solidFill>
                  <a:srgbClr val="5D6C82"/>
                </a:solidFill>
                <a:latin typeface="Aptos"/>
              </a:rPr>
              <a:t>OUR RESPONSE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58368" y="3950208"/>
            <a:ext cx="3328416" cy="1143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DCE5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22959" y="416052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1769E0"/>
          </a:solidFill>
          <a:ln>
            <a:solidFill>
              <a:srgbClr val="1769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59" y="4279392"/>
            <a:ext cx="438912" cy="14630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ptos"/>
              </a:rPr>
              <a:t>01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08176" y="4123944"/>
            <a:ext cx="2377440" cy="25603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182742"/>
                </a:solidFill>
                <a:latin typeface="Aptos"/>
              </a:rPr>
              <a:t>Share basics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08176" y="4489704"/>
            <a:ext cx="2331720" cy="32918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5D6C82"/>
                </a:solidFill>
                <a:latin typeface="Aptos"/>
              </a:rPr>
              <a:t>Age · income · work · area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041648" y="4325112"/>
            <a:ext cx="256032" cy="27432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Aft>
                <a:spcPts val="0"/>
              </a:spcAft>
            </a:pPr>
            <a:r>
              <a:rPr sz="1800" b="1" i="0">
                <a:solidFill>
                  <a:srgbClr val="1769E0"/>
                </a:solidFill>
                <a:latin typeface="Aptos"/>
              </a:rPr>
              <a:t>→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334255" y="3950208"/>
            <a:ext cx="3328416" cy="1143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DCE5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4498847" y="416052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22B8D6"/>
          </a:solidFill>
          <a:ln>
            <a:solidFill>
              <a:srgbClr val="22B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498847" y="4279392"/>
            <a:ext cx="438912" cy="14630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ptos"/>
              </a:rPr>
              <a:t>02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84064" y="4123944"/>
            <a:ext cx="2377440" cy="25603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182742"/>
                </a:solidFill>
                <a:latin typeface="Aptos"/>
              </a:rPr>
              <a:t>See possible matches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84064" y="4489704"/>
            <a:ext cx="2331720" cy="32918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5D6C82"/>
                </a:solidFill>
                <a:latin typeface="Aptos"/>
              </a:rPr>
              <a:t>Rule-based shortlist + reasons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17536" y="4325112"/>
            <a:ext cx="256032" cy="27432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Aft>
                <a:spcPts val="0"/>
              </a:spcAft>
            </a:pPr>
            <a:r>
              <a:rPr sz="1800" b="1" i="0">
                <a:solidFill>
                  <a:srgbClr val="1769E0"/>
                </a:solidFill>
                <a:latin typeface="Aptos"/>
              </a:rPr>
              <a:t>→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010144" y="3950208"/>
            <a:ext cx="3328416" cy="1143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DCE5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8174736" y="416052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1769E0"/>
          </a:solidFill>
          <a:ln>
            <a:solidFill>
              <a:srgbClr val="1769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174736" y="4279392"/>
            <a:ext cx="438912" cy="14630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ptos"/>
              </a:rPr>
              <a:t>03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759952" y="4123944"/>
            <a:ext cx="2377440" cy="25603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182742"/>
                </a:solidFill>
                <a:latin typeface="Aptos"/>
              </a:rPr>
              <a:t>Plan the application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759952" y="4489704"/>
            <a:ext cx="2331720" cy="32918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5D6C82"/>
                </a:solidFill>
                <a:latin typeface="Aptos"/>
              </a:rPr>
              <a:t>Documents · process · AI help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58368" y="5413248"/>
            <a:ext cx="10515600" cy="548640"/>
          </a:xfrm>
          <a:prstGeom prst="roundRect">
            <a:avLst>
              <a:gd name="adj" fmla="val 12000"/>
            </a:avLst>
          </a:prstGeom>
          <a:solidFill>
            <a:srgbClr val="EAF5F7"/>
          </a:solidFill>
          <a:ln>
            <a:solidFill>
              <a:srgbClr val="D4EB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77824" y="5577840"/>
            <a:ext cx="10104120" cy="20116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Aft>
                <a:spcPts val="0"/>
              </a:spcAft>
            </a:pPr>
            <a:r>
              <a:rPr sz="1200" b="1" i="0">
                <a:solidFill>
                  <a:srgbClr val="10234B"/>
                </a:solidFill>
                <a:latin typeface="Aptos"/>
              </a:rPr>
              <a:t>The department makes the final eligibility decision. SevaManipur AI helps citizens prepare and navigate.</a:t>
            </a:r>
          </a:p>
        </p:txBody>
      </p:sp>
    </p:spTree>
    <p:extLst>
      <p:ext uri="{BB962C8B-B14F-4D97-AF65-F5344CB8AC3E}">
        <p14:creationId xmlns:p14="http://schemas.microsoft.com/office/powerpoint/2010/main" val="403755528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D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43C5A31-AD87-C50B-CE9F-15C191F592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109728"/>
          </a:xfrm>
          <a:prstGeom prst="rect">
            <a:avLst/>
          </a:prstGeom>
          <a:solidFill>
            <a:srgbClr val="1769E0"/>
          </a:solidFill>
          <a:ln>
            <a:solidFill>
              <a:srgbClr val="1769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347472"/>
            <a:ext cx="6400800" cy="20116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Aft>
                <a:spcPts val="0"/>
              </a:spcAft>
            </a:pPr>
            <a:r>
              <a:rPr sz="900" b="1" i="0">
                <a:solidFill>
                  <a:srgbClr val="1769E0"/>
                </a:solidFill>
                <a:latin typeface="Aptos"/>
              </a:rPr>
              <a:t>03  /  NOVELTY &amp; TRUST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3504" y="658368"/>
            <a:ext cx="10984992" cy="58521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Aft>
                <a:spcPts val="0"/>
              </a:spcAft>
            </a:pPr>
            <a:r>
              <a:rPr sz="2700" b="1" i="0">
                <a:solidFill>
                  <a:srgbClr val="10234B"/>
                </a:solidFill>
                <a:latin typeface="Aptos"/>
              </a:rPr>
              <a:t>A navigator, not a black-box decision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547104"/>
            <a:ext cx="6400800" cy="15544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Aft>
                <a:spcPts val="0"/>
              </a:spcAft>
            </a:pPr>
            <a:r>
              <a:rPr sz="800" b="1" i="0">
                <a:solidFill>
                  <a:srgbClr val="8795A8"/>
                </a:solidFill>
                <a:latin typeface="Aptos"/>
              </a:rPr>
              <a:t>SEVAMANIPUR AI  ·  AI4SEVA 2026  ·  PROTOTYPE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49000" y="6547104"/>
            <a:ext cx="594360" cy="15544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Aft>
                <a:spcPts val="0"/>
              </a:spcAft>
            </a:pPr>
            <a:r>
              <a:rPr sz="800" b="1" i="0">
                <a:solidFill>
                  <a:srgbClr val="8795A8"/>
                </a:solidFill>
                <a:latin typeface="Aptos"/>
              </a:rPr>
              <a:t>03 / 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664208"/>
            <a:ext cx="1371600" cy="18288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Aft>
                <a:spcPts val="0"/>
              </a:spcAft>
            </a:pPr>
            <a:r>
              <a:rPr sz="900" b="1" i="0">
                <a:solidFill>
                  <a:srgbClr val="1769E0"/>
                </a:solidFill>
                <a:latin typeface="Aptos"/>
              </a:rPr>
              <a:t>PROFILE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10128" y="1664208"/>
            <a:ext cx="1645920" cy="18288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Aft>
                <a:spcPts val="0"/>
              </a:spcAft>
            </a:pPr>
            <a:r>
              <a:rPr sz="900" b="1" i="0">
                <a:solidFill>
                  <a:srgbClr val="22B8D6"/>
                </a:solidFill>
                <a:latin typeface="Aptos"/>
              </a:rPr>
              <a:t>RULE MATCH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16752" y="1664208"/>
            <a:ext cx="1920240" cy="18288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Aft>
                <a:spcPts val="0"/>
              </a:spcAft>
            </a:pPr>
            <a:r>
              <a:rPr sz="900" b="1" i="0">
                <a:solidFill>
                  <a:srgbClr val="1769E0"/>
                </a:solidFill>
                <a:latin typeface="Aptos"/>
              </a:rPr>
              <a:t>WHY THIS MATCH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33688" y="1664208"/>
            <a:ext cx="1554480" cy="18288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Aft>
                <a:spcPts val="0"/>
              </a:spcAft>
            </a:pPr>
            <a:r>
              <a:rPr sz="900" b="1" i="0">
                <a:solidFill>
                  <a:srgbClr val="22B8D6"/>
                </a:solidFill>
                <a:latin typeface="Aptos"/>
              </a:rPr>
              <a:t>NEXT ACTION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1993392"/>
            <a:ext cx="2212848" cy="1143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DCE5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58368" y="1993392"/>
            <a:ext cx="2212848" cy="73152"/>
          </a:xfrm>
          <a:prstGeom prst="roundRect">
            <a:avLst>
              <a:gd name="adj" fmla="val 12000"/>
            </a:avLst>
          </a:prstGeom>
          <a:solidFill>
            <a:srgbClr val="1769E0"/>
          </a:solidFill>
          <a:ln>
            <a:solidFill>
              <a:srgbClr val="1769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5528" y="2240280"/>
            <a:ext cx="1938528" cy="27432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182742"/>
                </a:solidFill>
                <a:latin typeface="Aptos"/>
              </a:rPr>
              <a:t>Citizen inputs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5528" y="2596896"/>
            <a:ext cx="1938528" cy="43891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5D6C82"/>
                </a:solidFill>
                <a:latin typeface="Aptos"/>
              </a:rPr>
              <a:t>Age, occupation,
income and area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182112" y="1993392"/>
            <a:ext cx="2212848" cy="1143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DCE5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182112" y="1993392"/>
            <a:ext cx="2212848" cy="73152"/>
          </a:xfrm>
          <a:prstGeom prst="roundRect">
            <a:avLst>
              <a:gd name="adj" fmla="val 12000"/>
            </a:avLst>
          </a:prstGeom>
          <a:solidFill>
            <a:srgbClr val="22B8D6"/>
          </a:solidFill>
          <a:ln>
            <a:solidFill>
              <a:srgbClr val="22B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319272" y="2240280"/>
            <a:ext cx="1938528" cy="27432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182742"/>
                </a:solidFill>
                <a:latin typeface="Aptos"/>
              </a:rPr>
              <a:t>Deterministic checks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19272" y="2596896"/>
            <a:ext cx="1938528" cy="43891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5D6C82"/>
                </a:solidFill>
                <a:latin typeface="Aptos"/>
              </a:rPr>
              <a:t>Transparent scheme
criteria filters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852160" y="1993392"/>
            <a:ext cx="2212848" cy="1143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DCE5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852160" y="1993392"/>
            <a:ext cx="2212848" cy="73152"/>
          </a:xfrm>
          <a:prstGeom prst="roundRect">
            <a:avLst>
              <a:gd name="adj" fmla="val 12000"/>
            </a:avLst>
          </a:prstGeom>
          <a:solidFill>
            <a:srgbClr val="1769E0"/>
          </a:solidFill>
          <a:ln>
            <a:solidFill>
              <a:srgbClr val="1769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89320" y="2240280"/>
            <a:ext cx="1938528" cy="27432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182742"/>
                </a:solidFill>
                <a:latin typeface="Aptos"/>
              </a:rPr>
              <a:t>Explainable result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89320" y="2596896"/>
            <a:ext cx="1938528" cy="43891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5D6C82"/>
                </a:solidFill>
                <a:latin typeface="Aptos"/>
              </a:rPr>
              <a:t>Show match reasons,
source and caveats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732520" y="1993392"/>
            <a:ext cx="2212848" cy="1143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DCE5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732520" y="1993392"/>
            <a:ext cx="2212848" cy="73152"/>
          </a:xfrm>
          <a:prstGeom prst="roundRect">
            <a:avLst>
              <a:gd name="adj" fmla="val 12000"/>
            </a:avLst>
          </a:prstGeom>
          <a:solidFill>
            <a:srgbClr val="22B8D6"/>
          </a:solidFill>
          <a:ln>
            <a:solidFill>
              <a:srgbClr val="22B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869680" y="2240280"/>
            <a:ext cx="1938528" cy="27432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182742"/>
                </a:solidFill>
                <a:latin typeface="Aptos"/>
              </a:rPr>
              <a:t>Guided application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869680" y="2596896"/>
            <a:ext cx="1938528" cy="43891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5D6C82"/>
                </a:solidFill>
                <a:latin typeface="Aptos"/>
              </a:rPr>
              <a:t>Documents, process
and AI assistance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862072" y="2368296"/>
            <a:ext cx="256032" cy="29260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Aft>
                <a:spcPts val="0"/>
              </a:spcAft>
            </a:pPr>
            <a:r>
              <a:rPr sz="1800" b="1" i="0">
                <a:solidFill>
                  <a:srgbClr val="1769E0"/>
                </a:solidFill>
                <a:latin typeface="Aptos"/>
              </a:rPr>
              <a:t>→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541264" y="2368296"/>
            <a:ext cx="256032" cy="29260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Aft>
                <a:spcPts val="0"/>
              </a:spcAft>
            </a:pPr>
            <a:r>
              <a:rPr sz="1800" b="1" i="0">
                <a:solidFill>
                  <a:srgbClr val="1769E0"/>
                </a:solidFill>
                <a:latin typeface="Aptos"/>
              </a:rPr>
              <a:t>→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39327" y="2368296"/>
            <a:ext cx="256032" cy="29260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Aft>
                <a:spcPts val="0"/>
              </a:spcAft>
            </a:pPr>
            <a:r>
              <a:rPr sz="1800" b="1" i="0">
                <a:solidFill>
                  <a:srgbClr val="1769E0"/>
                </a:solidFill>
                <a:latin typeface="Aptos"/>
              </a:rPr>
              <a:t>→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8368" y="3584448"/>
            <a:ext cx="3401568" cy="14173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DCE5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58368" y="3584448"/>
            <a:ext cx="54864" cy="1417320"/>
          </a:xfrm>
          <a:prstGeom prst="roundRect">
            <a:avLst>
              <a:gd name="adj" fmla="val 12000"/>
            </a:avLst>
          </a:prstGeom>
          <a:solidFill>
            <a:srgbClr val="1769E0"/>
          </a:solidFill>
          <a:ln>
            <a:solidFill>
              <a:srgbClr val="1769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59536" y="3758184"/>
            <a:ext cx="3035808" cy="32918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82742"/>
                </a:solidFill>
                <a:latin typeface="Aptos"/>
              </a:rPr>
              <a:t>Explainable by design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59536" y="4187952"/>
            <a:ext cx="3017520" cy="70408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5D6C82"/>
                </a:solidFill>
                <a:latin typeface="Aptos"/>
              </a:rPr>
              <a:t>The prototype shows why a result may fit; profile matching is rule-based.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169663" y="3584448"/>
            <a:ext cx="3401568" cy="14173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DCE5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4169663" y="3584448"/>
            <a:ext cx="54864" cy="1417320"/>
          </a:xfrm>
          <a:prstGeom prst="roundRect">
            <a:avLst>
              <a:gd name="adj" fmla="val 12000"/>
            </a:avLst>
          </a:prstGeom>
          <a:solidFill>
            <a:srgbClr val="22B8D6"/>
          </a:solidFill>
          <a:ln>
            <a:solidFill>
              <a:srgbClr val="22B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370831" y="3758184"/>
            <a:ext cx="3035808" cy="32918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82742"/>
                </a:solidFill>
                <a:latin typeface="Aptos"/>
              </a:rPr>
              <a:t>Grounded assistance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370831" y="4187952"/>
            <a:ext cx="3017520" cy="70408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5D6C82"/>
                </a:solidFill>
                <a:latin typeface="Aptos"/>
              </a:rPr>
              <a:t>AI can explain scheme details from the available catalog and direct users to official sources.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699248" y="3584448"/>
            <a:ext cx="3566160" cy="14173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DCE5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7699248" y="3584448"/>
            <a:ext cx="54864" cy="1417320"/>
          </a:xfrm>
          <a:prstGeom prst="roundRect">
            <a:avLst>
              <a:gd name="adj" fmla="val 12000"/>
            </a:avLst>
          </a:prstGeom>
          <a:solidFill>
            <a:srgbClr val="FFC45B"/>
          </a:solidFill>
          <a:ln>
            <a:solidFill>
              <a:srgbClr val="FFC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900416" y="3758184"/>
            <a:ext cx="3200400" cy="32918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82742"/>
                </a:solidFill>
                <a:latin typeface="Aptos"/>
              </a:rPr>
              <a:t>Human authority stays clear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900416" y="4187952"/>
            <a:ext cx="3182112" cy="70408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5D6C82"/>
                </a:solidFill>
                <a:latin typeface="Aptos"/>
              </a:rPr>
              <a:t>No approval promise. Final eligibility and current application windows remain with the department.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1520" y="5413248"/>
            <a:ext cx="10469880" cy="50292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Aft>
                <a:spcPts val="0"/>
              </a:spcAft>
            </a:pPr>
            <a:r>
              <a:rPr sz="1050" b="0" i="1">
                <a:solidFill>
                  <a:srgbClr val="5D6C82"/>
                </a:solidFill>
                <a:latin typeface="Aptos"/>
              </a:rPr>
              <a:t>Current matcher checks age, occupation, rural/urban area and income. Scheme-specific checks (for example disability or widow status) need to be added before broad eligibility claims.</a:t>
            </a:r>
          </a:p>
        </p:txBody>
      </p:sp>
    </p:spTree>
    <p:extLst>
      <p:ext uri="{BB962C8B-B14F-4D97-AF65-F5344CB8AC3E}">
        <p14:creationId xmlns:p14="http://schemas.microsoft.com/office/powerpoint/2010/main" val="391836555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D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D0E1FA1-6564-0FDF-47BD-83A88AEB46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109728"/>
          </a:xfrm>
          <a:prstGeom prst="rect">
            <a:avLst/>
          </a:prstGeom>
          <a:solidFill>
            <a:srgbClr val="1769E0"/>
          </a:solidFill>
          <a:ln>
            <a:solidFill>
              <a:srgbClr val="1769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347472"/>
            <a:ext cx="6400800" cy="20116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Aft>
                <a:spcPts val="0"/>
              </a:spcAft>
            </a:pPr>
            <a:r>
              <a:rPr sz="900" b="1" i="0">
                <a:solidFill>
                  <a:srgbClr val="1769E0"/>
                </a:solidFill>
                <a:latin typeface="Aptos"/>
              </a:rPr>
              <a:t>04  /  PRODUCT / MODEL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3504" y="658368"/>
            <a:ext cx="10984992" cy="58521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Aft>
                <a:spcPts val="0"/>
              </a:spcAft>
            </a:pPr>
            <a:r>
              <a:rPr sz="2700" b="1" i="0">
                <a:solidFill>
                  <a:srgbClr val="10234B"/>
                </a:solidFill>
                <a:latin typeface="Aptos"/>
              </a:rPr>
              <a:t>A working prototype with a clear path to guidance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547104"/>
            <a:ext cx="6400800" cy="15544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Aft>
                <a:spcPts val="0"/>
              </a:spcAft>
            </a:pPr>
            <a:r>
              <a:rPr sz="800" b="1" i="0">
                <a:solidFill>
                  <a:srgbClr val="8795A8"/>
                </a:solidFill>
                <a:latin typeface="Aptos"/>
              </a:rPr>
              <a:t>SEVAMANIPUR AI  ·  AI4SEVA 2026  ·  PROTOTYPE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49000" y="6547104"/>
            <a:ext cx="594360" cy="15544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Aft>
                <a:spcPts val="0"/>
              </a:spcAft>
            </a:pPr>
            <a:r>
              <a:rPr sz="800" b="1" i="0">
                <a:solidFill>
                  <a:srgbClr val="8795A8"/>
                </a:solidFill>
                <a:latin typeface="Aptos"/>
              </a:rPr>
              <a:t>04 / 06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536192"/>
            <a:ext cx="5212080" cy="29260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DCE5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1_home_he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" y="1627632"/>
            <a:ext cx="5029200" cy="282549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41248" y="4562856"/>
            <a:ext cx="4754880" cy="20116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Aft>
                <a:spcPts val="0"/>
              </a:spcAft>
            </a:pPr>
            <a:r>
              <a:rPr sz="900" b="1" i="0">
                <a:solidFill>
                  <a:srgbClr val="5D6C82"/>
                </a:solidFill>
                <a:latin typeface="Aptos"/>
              </a:rPr>
              <a:t>Current home screen · live typed question handoff to Seva AI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63640" y="1572768"/>
            <a:ext cx="3657600" cy="20116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Aft>
                <a:spcPts val="0"/>
              </a:spcAft>
            </a:pPr>
            <a:r>
              <a:rPr sz="900" b="1" i="0">
                <a:solidFill>
                  <a:srgbClr val="1769E0"/>
                </a:solidFill>
                <a:latin typeface="Aptos"/>
              </a:rPr>
              <a:t>CURRENT PROTOTYPE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36208" y="1901952"/>
            <a:ext cx="2350008" cy="117043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DCE5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236208" y="1901952"/>
            <a:ext cx="54864" cy="1170432"/>
          </a:xfrm>
          <a:prstGeom prst="roundRect">
            <a:avLst>
              <a:gd name="adj" fmla="val 12000"/>
            </a:avLst>
          </a:prstGeom>
          <a:solidFill>
            <a:srgbClr val="1769E0"/>
          </a:solidFill>
          <a:ln>
            <a:solidFill>
              <a:srgbClr val="1769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37376" y="2075688"/>
            <a:ext cx="1984248" cy="32918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182742"/>
                </a:solidFill>
                <a:latin typeface="Aptos"/>
              </a:rPr>
              <a:t>Scheme matching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37376" y="2505456"/>
            <a:ext cx="1965960" cy="4572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5D6C82"/>
                </a:solidFill>
                <a:latin typeface="Aptos"/>
              </a:rPr>
              <a:t>Profile fields → shortlist → “why you may qualify”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741664" y="1901952"/>
            <a:ext cx="2505456" cy="117043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DCE5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741664" y="1901952"/>
            <a:ext cx="54864" cy="1170432"/>
          </a:xfrm>
          <a:prstGeom prst="roundRect">
            <a:avLst>
              <a:gd name="adj" fmla="val 12000"/>
            </a:avLst>
          </a:prstGeom>
          <a:solidFill>
            <a:srgbClr val="22B8D6"/>
          </a:solidFill>
          <a:ln>
            <a:solidFill>
              <a:srgbClr val="22B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42832" y="2075688"/>
            <a:ext cx="2139696" cy="32918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182742"/>
                </a:solidFill>
                <a:latin typeface="Aptos"/>
              </a:rPr>
              <a:t>Ask Seva AI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42832" y="2505456"/>
            <a:ext cx="2121408" cy="4572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5D6C82"/>
                </a:solidFill>
                <a:latin typeface="Aptos"/>
              </a:rPr>
              <a:t>Continue with a question about a scheme or service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36208" y="3236976"/>
            <a:ext cx="2350008" cy="117043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DCE5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236208" y="3236976"/>
            <a:ext cx="54864" cy="1170432"/>
          </a:xfrm>
          <a:prstGeom prst="roundRect">
            <a:avLst>
              <a:gd name="adj" fmla="val 12000"/>
            </a:avLst>
          </a:prstGeom>
          <a:solidFill>
            <a:srgbClr val="22B8D6"/>
          </a:solidFill>
          <a:ln>
            <a:solidFill>
              <a:srgbClr val="22B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37376" y="3410712"/>
            <a:ext cx="1984248" cy="32918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182742"/>
                </a:solidFill>
                <a:latin typeface="Aptos"/>
              </a:rPr>
              <a:t>Languages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37376" y="3840480"/>
            <a:ext cx="1965960" cy="4572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5D6C82"/>
                </a:solidFill>
                <a:latin typeface="Aptos"/>
              </a:rPr>
              <a:t>English, Hindi and Meiteilon interface support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741664" y="3236976"/>
            <a:ext cx="2505456" cy="117043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DCE5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741664" y="3236976"/>
            <a:ext cx="54864" cy="1170432"/>
          </a:xfrm>
          <a:prstGeom prst="roundRect">
            <a:avLst>
              <a:gd name="adj" fmla="val 12000"/>
            </a:avLst>
          </a:prstGeom>
          <a:solidFill>
            <a:srgbClr val="1769E0"/>
          </a:solidFill>
          <a:ln>
            <a:solidFill>
              <a:srgbClr val="1769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942832" y="3410712"/>
            <a:ext cx="2139696" cy="32918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182742"/>
                </a:solidFill>
                <a:latin typeface="Aptos"/>
              </a:rPr>
              <a:t>Web deployment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42832" y="3840480"/>
            <a:ext cx="2121408" cy="4572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5D6C82"/>
                </a:solidFill>
                <a:latin typeface="Aptos"/>
              </a:rPr>
              <a:t>React + Vite frontend on Vercel; serverless API routes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54496" y="4645152"/>
            <a:ext cx="4974336" cy="768096"/>
          </a:xfrm>
          <a:prstGeom prst="roundRect">
            <a:avLst>
              <a:gd name="adj" fmla="val 12000"/>
            </a:avLst>
          </a:prstGeom>
          <a:solidFill>
            <a:srgbClr val="FFF6E6"/>
          </a:solidFill>
          <a:ln>
            <a:solidFill>
              <a:srgbClr val="F4D99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19088" y="4782312"/>
            <a:ext cx="1143000" cy="18288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Aft>
                <a:spcPts val="0"/>
              </a:spcAft>
            </a:pPr>
            <a:r>
              <a:rPr sz="900" b="1" i="0">
                <a:solidFill>
                  <a:srgbClr val="885D12"/>
                </a:solidFill>
                <a:latin typeface="Aptos"/>
              </a:rPr>
              <a:t>DATA STATUS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98079" y="4736592"/>
            <a:ext cx="3493008" cy="43891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704D18"/>
                </a:solidFill>
                <a:latin typeface="Aptos"/>
              </a:rPr>
              <a:t>Current app uses sample catalog data. Supabase schema + sourced seed are prepared, but not connected yet.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13232" y="5742432"/>
            <a:ext cx="10424160" cy="29260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10234B"/>
                </a:solidFill>
                <a:latin typeface="Aptos"/>
              </a:rPr>
              <a:t>Next product step: load the reviewed catalog, then add scheme-specific eligibility fields and freshness checks.</a:t>
            </a:r>
          </a:p>
        </p:txBody>
      </p:sp>
    </p:spTree>
    <p:extLst>
      <p:ext uri="{BB962C8B-B14F-4D97-AF65-F5344CB8AC3E}">
        <p14:creationId xmlns:p14="http://schemas.microsoft.com/office/powerpoint/2010/main" val="205932707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D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AFF58D7-E021-964C-9522-44734BD377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109728"/>
          </a:xfrm>
          <a:prstGeom prst="rect">
            <a:avLst/>
          </a:prstGeom>
          <a:solidFill>
            <a:srgbClr val="1769E0"/>
          </a:solidFill>
          <a:ln>
            <a:solidFill>
              <a:srgbClr val="1769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347472"/>
            <a:ext cx="6400800" cy="20116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Aft>
                <a:spcPts val="0"/>
              </a:spcAft>
            </a:pPr>
            <a:r>
              <a:rPr sz="900" b="1" i="0">
                <a:solidFill>
                  <a:srgbClr val="1769E0"/>
                </a:solidFill>
                <a:latin typeface="Aptos"/>
              </a:rPr>
              <a:t>05  /  BUSINESS MODEL &amp; SUSTAINABILITY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3504" y="658368"/>
            <a:ext cx="10984992" cy="58521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Aft>
                <a:spcPts val="0"/>
              </a:spcAft>
            </a:pPr>
            <a:r>
              <a:rPr sz="2700" b="1" i="0">
                <a:solidFill>
                  <a:srgbClr val="10234B"/>
                </a:solidFill>
                <a:latin typeface="Aptos"/>
              </a:rPr>
              <a:t>Sustain the service through trusted ownership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547104"/>
            <a:ext cx="6400800" cy="15544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Aft>
                <a:spcPts val="0"/>
              </a:spcAft>
            </a:pPr>
            <a:r>
              <a:rPr sz="800" b="1" i="0">
                <a:solidFill>
                  <a:srgbClr val="8795A8"/>
                </a:solidFill>
                <a:latin typeface="Aptos"/>
              </a:rPr>
              <a:t>SEVAMANIPUR AI  ·  AI4SEVA 2026  ·  PROTOTYPE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49000" y="6547104"/>
            <a:ext cx="594360" cy="15544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Aft>
                <a:spcPts val="0"/>
              </a:spcAft>
            </a:pPr>
            <a:r>
              <a:rPr sz="800" b="1" i="0">
                <a:solidFill>
                  <a:srgbClr val="8795A8"/>
                </a:solidFill>
                <a:latin typeface="Aptos"/>
              </a:rPr>
              <a:t>05 / 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517904"/>
            <a:ext cx="3657600" cy="21945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Aft>
                <a:spcPts val="0"/>
              </a:spcAft>
            </a:pPr>
            <a:r>
              <a:rPr sz="1000" b="1" i="0">
                <a:solidFill>
                  <a:srgbClr val="1769E0"/>
                </a:solidFill>
                <a:latin typeface="Aptos"/>
              </a:rPr>
              <a:t>PUBLIC VALUE FIRST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856231"/>
            <a:ext cx="4572000" cy="65836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Aft>
                <a:spcPts val="0"/>
              </a:spcAft>
            </a:pPr>
            <a:r>
              <a:rPr sz="2100" b="1" i="0">
                <a:solidFill>
                  <a:srgbClr val="10234B"/>
                </a:solidFill>
                <a:latin typeface="Aptos"/>
              </a:rPr>
              <a:t>Free citizen access to scheme discovery and application guidance. No fee to check possible eligibility.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25312" y="1517904"/>
            <a:ext cx="3657600" cy="21945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Aft>
                <a:spcPts val="0"/>
              </a:spcAft>
            </a:pPr>
            <a:r>
              <a:rPr sz="1000" b="1" i="0">
                <a:solidFill>
                  <a:srgbClr val="22B8D6"/>
                </a:solidFill>
                <a:latin typeface="Aptos"/>
              </a:rPr>
              <a:t>SUSTAINABILITY MODEL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888736" y="1856231"/>
            <a:ext cx="2514600" cy="131673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DCE5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888736" y="1856231"/>
            <a:ext cx="54864" cy="1316736"/>
          </a:xfrm>
          <a:prstGeom prst="roundRect">
            <a:avLst>
              <a:gd name="adj" fmla="val 12000"/>
            </a:avLst>
          </a:prstGeom>
          <a:solidFill>
            <a:srgbClr val="1769E0"/>
          </a:solidFill>
          <a:ln>
            <a:solidFill>
              <a:srgbClr val="1769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089904" y="2029967"/>
            <a:ext cx="2148840" cy="32918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182742"/>
                </a:solidFill>
                <a:latin typeface="Aptos"/>
              </a:rPr>
              <a:t>Department partner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89904" y="2459736"/>
            <a:ext cx="2130552" cy="60350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5D6C82"/>
                </a:solidFill>
                <a:latin typeface="Aptos"/>
              </a:rPr>
              <a:t>Approves scheme wording, eligibility and application links.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558784" y="1856231"/>
            <a:ext cx="2615184" cy="131673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DCE5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558784" y="1856231"/>
            <a:ext cx="54864" cy="1316736"/>
          </a:xfrm>
          <a:prstGeom prst="roundRect">
            <a:avLst>
              <a:gd name="adj" fmla="val 12000"/>
            </a:avLst>
          </a:prstGeom>
          <a:solidFill>
            <a:srgbClr val="22B8D6"/>
          </a:solidFill>
          <a:ln>
            <a:solidFill>
              <a:srgbClr val="22B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759952" y="2029967"/>
            <a:ext cx="2249424" cy="32918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182742"/>
                </a:solidFill>
                <a:latin typeface="Aptos"/>
              </a:rPr>
              <a:t>Maintained catalog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759952" y="2459736"/>
            <a:ext cx="2231136" cy="60350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5D6C82"/>
                </a:solidFill>
                <a:latin typeface="Aptos"/>
              </a:rPr>
              <a:t>Named owner reviews sources and freshness on a schedule.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94944" y="2862072"/>
            <a:ext cx="2514600" cy="131673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DCE5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94944" y="2862072"/>
            <a:ext cx="54864" cy="1316736"/>
          </a:xfrm>
          <a:prstGeom prst="roundRect">
            <a:avLst>
              <a:gd name="adj" fmla="val 12000"/>
            </a:avLst>
          </a:prstGeom>
          <a:solidFill>
            <a:srgbClr val="22B8D6"/>
          </a:solidFill>
          <a:ln>
            <a:solidFill>
              <a:srgbClr val="22B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96112" y="3035808"/>
            <a:ext cx="2148840" cy="32918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182742"/>
                </a:solidFill>
                <a:latin typeface="Aptos"/>
              </a:rPr>
              <a:t>Pilot &amp; measure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6112" y="3465576"/>
            <a:ext cx="2130552" cy="60350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5D6C82"/>
                </a:solidFill>
                <a:latin typeface="Aptos"/>
              </a:rPr>
              <a:t>Track successful referrals, helpfulness and data corrections.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364992" y="2862072"/>
            <a:ext cx="2514600" cy="131673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DCE5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3364992" y="2862072"/>
            <a:ext cx="54864" cy="1316736"/>
          </a:xfrm>
          <a:prstGeom prst="roundRect">
            <a:avLst>
              <a:gd name="adj" fmla="val 12000"/>
            </a:avLst>
          </a:prstGeom>
          <a:solidFill>
            <a:srgbClr val="1769E0"/>
          </a:solidFill>
          <a:ln>
            <a:solidFill>
              <a:srgbClr val="1769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566160" y="3035808"/>
            <a:ext cx="2148840" cy="32918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182742"/>
                </a:solidFill>
                <a:latin typeface="Aptos"/>
              </a:rPr>
              <a:t>Operate securely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66160" y="3465576"/>
            <a:ext cx="2130552" cy="60350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5D6C82"/>
                </a:solidFill>
                <a:latin typeface="Aptos"/>
              </a:rPr>
              <a:t>Use managed hosting and database; minimize personal data.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888736" y="3493008"/>
            <a:ext cx="2514600" cy="131673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DCE5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5888736" y="3493008"/>
            <a:ext cx="54864" cy="1316736"/>
          </a:xfrm>
          <a:prstGeom prst="roundRect">
            <a:avLst>
              <a:gd name="adj" fmla="val 12000"/>
            </a:avLst>
          </a:prstGeom>
          <a:solidFill>
            <a:srgbClr val="1769E0"/>
          </a:solidFill>
          <a:ln>
            <a:solidFill>
              <a:srgbClr val="1769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089904" y="3666744"/>
            <a:ext cx="2148840" cy="32918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182742"/>
                </a:solidFill>
                <a:latin typeface="Aptos"/>
              </a:rPr>
              <a:t>Public procurement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89904" y="4096511"/>
            <a:ext cx="2130552" cy="60350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Aft>
                <a:spcPts val="0"/>
              </a:spcAft>
            </a:pPr>
            <a:r>
              <a:rPr sz="1030" b="0" i="0">
                <a:solidFill>
                  <a:srgbClr val="5D6C82"/>
                </a:solidFill>
                <a:latin typeface="Aptos"/>
              </a:rPr>
              <a:t>Long-term hosting and support can be funded through an approved government programme or contract.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558784" y="3493008"/>
            <a:ext cx="2615184" cy="131673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DCE5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8558784" y="3493008"/>
            <a:ext cx="54864" cy="1316736"/>
          </a:xfrm>
          <a:prstGeom prst="roundRect">
            <a:avLst>
              <a:gd name="adj" fmla="val 12000"/>
            </a:avLst>
          </a:prstGeom>
          <a:solidFill>
            <a:srgbClr val="22B8D6"/>
          </a:solidFill>
          <a:ln>
            <a:solidFill>
              <a:srgbClr val="22B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759952" y="3666744"/>
            <a:ext cx="2249424" cy="32918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182742"/>
                </a:solidFill>
                <a:latin typeface="Aptos"/>
              </a:rPr>
              <a:t>Expand responsibly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759952" y="4096511"/>
            <a:ext cx="2231136" cy="603503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5D6C82"/>
                </a:solidFill>
                <a:latin typeface="Aptos"/>
              </a:rPr>
              <a:t>Add departments only after their scheme data is validated.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13232" y="4937760"/>
            <a:ext cx="10442448" cy="640080"/>
          </a:xfrm>
          <a:prstGeom prst="roundRect">
            <a:avLst>
              <a:gd name="adj" fmla="val 12000"/>
            </a:avLst>
          </a:prstGeom>
          <a:solidFill>
            <a:srgbClr val="10234B"/>
          </a:solidFill>
          <a:ln>
            <a:solidFill>
              <a:srgbClr val="1023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14400" y="5138928"/>
            <a:ext cx="10012680" cy="21945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ptos"/>
              </a:rPr>
              <a:t>Sustainability depends on an accountable content owner and a regular verification cycle — not on AI alone.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9808" y="5742432"/>
            <a:ext cx="10058400" cy="2286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Aft>
                <a:spcPts val="0"/>
              </a:spcAft>
            </a:pPr>
            <a:r>
              <a:rPr sz="950" b="0" i="1">
                <a:solidFill>
                  <a:srgbClr val="5D6C82"/>
                </a:solidFill>
                <a:latin typeface="Aptos"/>
              </a:rPr>
              <a:t>Potential operating model; no government partnership or contract is claimed at this prototype stage.</a:t>
            </a:r>
          </a:p>
        </p:txBody>
      </p:sp>
    </p:spTree>
    <p:extLst>
      <p:ext uri="{BB962C8B-B14F-4D97-AF65-F5344CB8AC3E}">
        <p14:creationId xmlns:p14="http://schemas.microsoft.com/office/powerpoint/2010/main" val="400850672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109728"/>
          </a:xfrm>
          <a:prstGeom prst="rect">
            <a:avLst/>
          </a:prstGeom>
          <a:solidFill>
            <a:srgbClr val="1769E0"/>
          </a:solidFill>
          <a:ln>
            <a:solidFill>
              <a:srgbClr val="1769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347472"/>
            <a:ext cx="6400800" cy="20116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Aft>
                <a:spcPts val="0"/>
              </a:spcAft>
            </a:pPr>
            <a:r>
              <a:rPr sz="900" b="1" i="0">
                <a:solidFill>
                  <a:srgbClr val="1769E0"/>
                </a:solidFill>
                <a:latin typeface="Aptos"/>
              </a:rPr>
              <a:t>06  /  MARKET POTENTIAL &amp; SCALABILITY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3504" y="658368"/>
            <a:ext cx="10984992" cy="58521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Aft>
                <a:spcPts val="0"/>
              </a:spcAft>
            </a:pPr>
            <a:r>
              <a:rPr sz="2700" b="1" i="0">
                <a:solidFill>
                  <a:srgbClr val="10234B"/>
                </a:solidFill>
                <a:latin typeface="Aptos"/>
              </a:rPr>
              <a:t>Start with Manipur. Grow from verified data.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547104"/>
            <a:ext cx="6400800" cy="15544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Aft>
                <a:spcPts val="0"/>
              </a:spcAft>
            </a:pPr>
            <a:r>
              <a:rPr sz="800" b="1" i="0">
                <a:solidFill>
                  <a:srgbClr val="8795A8"/>
                </a:solidFill>
                <a:latin typeface="Aptos"/>
              </a:rPr>
              <a:t>SEVAMANIPUR AI  ·  AI4SEVA 2026  ·  PROTOTYPE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49000" y="6547104"/>
            <a:ext cx="594360" cy="15544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spcAft>
                <a:spcPts val="0"/>
              </a:spcAft>
            </a:pPr>
            <a:r>
              <a:rPr sz="800" b="1" i="0">
                <a:solidFill>
                  <a:srgbClr val="8795A8"/>
                </a:solidFill>
                <a:latin typeface="Aptos"/>
              </a:rPr>
              <a:t>06 / 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517904"/>
            <a:ext cx="3931920" cy="36576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10234B"/>
                </a:solidFill>
                <a:latin typeface="Aptos"/>
              </a:rPr>
              <a:t>A focused entry point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938528"/>
            <a:ext cx="4206240" cy="61264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5D6C82"/>
                </a:solidFill>
                <a:latin typeface="Aptos"/>
              </a:rPr>
              <a:t>Begin with Social Welfare guidance, then broaden discovery without mixing jurisdiction or department.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2761488"/>
            <a:ext cx="1353312" cy="804672"/>
          </a:xfrm>
          <a:prstGeom prst="roundRect">
            <a:avLst>
              <a:gd name="adj" fmla="val 12000"/>
            </a:avLst>
          </a:prstGeom>
          <a:solidFill>
            <a:srgbClr val="1769E0"/>
          </a:solidFill>
          <a:ln>
            <a:solidFill>
              <a:srgbClr val="1769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2926080"/>
            <a:ext cx="1243584" cy="18288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Aptos"/>
              </a:rPr>
              <a:t>ALL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384" y="3200400"/>
            <a:ext cx="1207008" cy="16459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Aft>
                <a:spcPts val="0"/>
              </a:spcAft>
            </a:pPr>
            <a:r>
              <a:rPr sz="800" b="0" i="0">
                <a:solidFill>
                  <a:srgbClr val="E6F4FF"/>
                </a:solidFill>
                <a:latin typeface="Aptos"/>
              </a:rPr>
              <a:t>Browse full catalog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194560" y="2761488"/>
            <a:ext cx="1353312" cy="804672"/>
          </a:xfrm>
          <a:prstGeom prst="roundRect">
            <a:avLst>
              <a:gd name="adj" fmla="val 12000"/>
            </a:avLst>
          </a:prstGeom>
          <a:solidFill>
            <a:srgbClr val="22B8D6"/>
          </a:solidFill>
          <a:ln>
            <a:solidFill>
              <a:srgbClr val="22B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249424" y="2926080"/>
            <a:ext cx="1243584" cy="18288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Aptos"/>
              </a:rPr>
              <a:t>MANIPUR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67712" y="3200400"/>
            <a:ext cx="1207008" cy="16459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Aft>
                <a:spcPts val="0"/>
              </a:spcAft>
            </a:pPr>
            <a:r>
              <a:rPr sz="800" b="0" i="0">
                <a:solidFill>
                  <a:srgbClr val="E6F4FF"/>
                </a:solidFill>
                <a:latin typeface="Aptos"/>
              </a:rPr>
              <a:t>State schemes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75888" y="2761488"/>
            <a:ext cx="1353312" cy="804672"/>
          </a:xfrm>
          <a:prstGeom prst="roundRect">
            <a:avLst>
              <a:gd name="adj" fmla="val 12000"/>
            </a:avLst>
          </a:prstGeom>
          <a:solidFill>
            <a:srgbClr val="10234B"/>
          </a:solidFill>
          <a:ln>
            <a:solidFill>
              <a:srgbClr val="1023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730752" y="2926080"/>
            <a:ext cx="1243584" cy="18288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Aptos"/>
              </a:rPr>
              <a:t>OTHER SCHEMES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49040" y="3200400"/>
            <a:ext cx="1207008" cy="16459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spcAft>
                <a:spcPts val="0"/>
              </a:spcAft>
            </a:pPr>
            <a:r>
              <a:rPr sz="800" b="0" i="0">
                <a:solidFill>
                  <a:srgbClr val="E6F4FF"/>
                </a:solidFill>
                <a:latin typeface="Aptos"/>
              </a:rPr>
              <a:t>Central / other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3794760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1769E0"/>
                </a:solidFill>
                <a:latin typeface="Aptos"/>
              </a:rPr>
              <a:t>+ Department filter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77840" y="1536192"/>
            <a:ext cx="2743200" cy="20116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Aft>
                <a:spcPts val="0"/>
              </a:spcAft>
            </a:pPr>
            <a:r>
              <a:rPr sz="900" b="1" i="0">
                <a:solidFill>
                  <a:srgbClr val="22B8D6"/>
                </a:solidFill>
                <a:latin typeface="Aptos"/>
              </a:rPr>
              <a:t>SCALE IN PHASES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541264" y="1865376"/>
            <a:ext cx="1828800" cy="112471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DCE5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541264" y="1865376"/>
            <a:ext cx="54864" cy="1124712"/>
          </a:xfrm>
          <a:prstGeom prst="roundRect">
            <a:avLst>
              <a:gd name="adj" fmla="val 12000"/>
            </a:avLst>
          </a:prstGeom>
          <a:solidFill>
            <a:srgbClr val="1769E0"/>
          </a:solidFill>
          <a:ln>
            <a:solidFill>
              <a:srgbClr val="1769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42431" y="2039112"/>
            <a:ext cx="1463040" cy="32918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182742"/>
                </a:solidFill>
                <a:latin typeface="Aptos"/>
              </a:rPr>
              <a:t>01  Validate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742431" y="2468880"/>
            <a:ext cx="1444752" cy="41147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5D6C82"/>
                </a:solidFill>
                <a:latin typeface="Aptos"/>
              </a:rPr>
              <a:t>Social Welfare sources + user testing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479792" y="1865376"/>
            <a:ext cx="1828800" cy="112471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DCE5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7479792" y="1865376"/>
            <a:ext cx="54864" cy="1124712"/>
          </a:xfrm>
          <a:prstGeom prst="roundRect">
            <a:avLst>
              <a:gd name="adj" fmla="val 12000"/>
            </a:avLst>
          </a:prstGeom>
          <a:solidFill>
            <a:srgbClr val="22B8D6"/>
          </a:solidFill>
          <a:ln>
            <a:solidFill>
              <a:srgbClr val="22B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680960" y="2039112"/>
            <a:ext cx="1463040" cy="32918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182742"/>
                </a:solidFill>
                <a:latin typeface="Aptos"/>
              </a:rPr>
              <a:t>02  Extend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80960" y="2468880"/>
            <a:ext cx="1444752" cy="41147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5D6C82"/>
                </a:solidFill>
                <a:latin typeface="Aptos"/>
              </a:rPr>
              <a:t>More departments + districts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418320" y="1865376"/>
            <a:ext cx="1828800" cy="112471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DCE5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9418320" y="1865376"/>
            <a:ext cx="54864" cy="1124712"/>
          </a:xfrm>
          <a:prstGeom prst="roundRect">
            <a:avLst>
              <a:gd name="adj" fmla="val 12000"/>
            </a:avLst>
          </a:prstGeom>
          <a:solidFill>
            <a:srgbClr val="10234B"/>
          </a:solidFill>
          <a:ln>
            <a:solidFill>
              <a:srgbClr val="1023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619488" y="2039112"/>
            <a:ext cx="1463040" cy="32918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182742"/>
                </a:solidFill>
                <a:latin typeface="Aptos"/>
              </a:rPr>
              <a:t>03  Improve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19488" y="2468880"/>
            <a:ext cx="1444752" cy="41147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5D6C82"/>
                </a:solidFill>
                <a:latin typeface="Aptos"/>
              </a:rPr>
              <a:t>Languages + assisted access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577840" y="340156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10234B"/>
                </a:solidFill>
                <a:latin typeface="Aptos"/>
              </a:rPr>
              <a:t>Scalable building blocks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596128" y="3803904"/>
            <a:ext cx="5559552" cy="126187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5D6C82"/>
                </a:solidFill>
                <a:latin typeface="Aptos"/>
              </a:rPr>
              <a:t>• Shared scheme catalog with source, department, jurisdiction and review date
• Rule-based matching separated from conversational explanation
• Vercel web delivery; Supabase catalog integration is the next step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13232" y="4736592"/>
            <a:ext cx="4352544" cy="850392"/>
          </a:xfrm>
          <a:prstGeom prst="roundRect">
            <a:avLst>
              <a:gd name="adj" fmla="val 12000"/>
            </a:avLst>
          </a:prstGeom>
          <a:solidFill>
            <a:srgbClr val="EAF5F7"/>
          </a:solidFill>
          <a:ln>
            <a:solidFill>
              <a:srgbClr val="D4EB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14400" y="4901184"/>
            <a:ext cx="1371600" cy="16459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Aft>
                <a:spcPts val="0"/>
              </a:spcAft>
            </a:pPr>
            <a:r>
              <a:rPr sz="900" b="1" i="0">
                <a:solidFill>
                  <a:srgbClr val="1769E0"/>
                </a:solidFill>
                <a:latin typeface="Aptos"/>
              </a:rPr>
              <a:t>FIRST DATA DROP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4400" y="5129784"/>
            <a:ext cx="3904487" cy="33832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Aft>
                <a:spcPts val="0"/>
              </a:spcAft>
            </a:pPr>
            <a:r>
              <a:rPr sz="969" b="0" i="0">
                <a:solidFill>
                  <a:srgbClr val="10234B"/>
                </a:solidFill>
                <a:latin typeface="Aptos"/>
              </a:rPr>
              <a:t>7 official-source-linked Social Welfare records prepared; current application status still requires department confirmation.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596128" y="5486400"/>
            <a:ext cx="5532120" cy="34747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spcAft>
                <a:spcPts val="0"/>
              </a:spcAft>
            </a:pPr>
            <a:r>
              <a:rPr sz="1000" b="1" i="0">
                <a:solidFill>
                  <a:srgbClr val="10234B"/>
                </a:solidFill>
                <a:latin typeface="Aptos"/>
              </a:rPr>
              <a:t>SevaManipur AI is a prototype developed for AI4SEVA 2026; not an official government service.</a:t>
            </a:r>
          </a:p>
        </p:txBody>
      </p:sp>
    </p:spTree>
    <p:extLst>
      <p:ext uri="{BB962C8B-B14F-4D97-AF65-F5344CB8AC3E}">
        <p14:creationId xmlns:p14="http://schemas.microsoft.com/office/powerpoint/2010/main" val="200152649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23</TotalTime>
  <Words>108</Words>
  <Application>Microsoft Office PowerPoint</Application>
  <PresentationFormat>Widescreen</PresentationFormat>
  <Paragraphs>19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2" baseType="lpstr">
      <vt:lpstr>Arial</vt:lpstr>
      <vt:lpstr>Calibri</vt:lpstr>
      <vt:lpstr>Calibri Light</vt:lpstr>
      <vt:lpstr>Canva Sans</vt:lpstr>
      <vt:lpstr>Wingdings</vt:lpstr>
      <vt:lpstr>Office Theme</vt:lpstr>
      <vt:lpstr>Problem Statement</vt:lpstr>
      <vt:lpstr>Solution</vt:lpstr>
      <vt:lpstr>Novelty/Uniqueness &amp; Competitive Advantage </vt:lpstr>
      <vt:lpstr>PowerPoint Presentation</vt:lpstr>
      <vt:lpstr>Business Model &amp; Sustainability</vt:lpstr>
      <vt:lpstr>Market Potential &amp; Scalability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SevaManipur AI — SW-01</dc:title>
  <dc:creator>SevaManipur AI Hackathon Team</dc:creator>
  <cp:lastModifiedBy>LENOVO</cp:lastModifiedBy>
  <cp:revision>5</cp:revision>
  <dcterms:created xsi:type="dcterms:W3CDTF">2026-09-21T09:38:46Z</dcterms:created>
  <dcterms:modified xsi:type="dcterms:W3CDTF">2026-10-08T11:53:11Z</dcterms:modified>
  <dc:subject>AI-based Welfare Scheme Eligibility &amp; Assistance Navigator</dc:subject>
  <cp:keywords>AI4SEVA, Manipur, Social Welfare, SW-01</cp:keywords>
</cp:coreProperties>
</file>